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23"/>
  </p:notesMasterIdLst>
  <p:sldIdLst>
    <p:sldId id="290" r:id="rId2"/>
    <p:sldId id="258" r:id="rId3"/>
    <p:sldId id="259" r:id="rId4"/>
    <p:sldId id="261" r:id="rId5"/>
    <p:sldId id="275" r:id="rId6"/>
    <p:sldId id="282" r:id="rId7"/>
    <p:sldId id="276" r:id="rId8"/>
    <p:sldId id="277" r:id="rId9"/>
    <p:sldId id="286" r:id="rId10"/>
    <p:sldId id="287" r:id="rId11"/>
    <p:sldId id="299" r:id="rId12"/>
    <p:sldId id="291" r:id="rId13"/>
    <p:sldId id="296" r:id="rId14"/>
    <p:sldId id="292" r:id="rId15"/>
    <p:sldId id="301" r:id="rId16"/>
    <p:sldId id="300" r:id="rId17"/>
    <p:sldId id="297" r:id="rId18"/>
    <p:sldId id="298" r:id="rId19"/>
    <p:sldId id="302" r:id="rId20"/>
    <p:sldId id="280" r:id="rId21"/>
    <p:sldId id="28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Animation="0"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28E20D-E8AC-4063-87F1-A08C79C9B2DA}" v="10" dt="2025-02-01T15:15:15.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75" autoAdjust="0"/>
    <p:restoredTop sz="94660"/>
  </p:normalViewPr>
  <p:slideViewPr>
    <p:cSldViewPr snapToGrid="0">
      <p:cViewPr varScale="1">
        <p:scale>
          <a:sx n="79" d="100"/>
          <a:sy n="79" d="100"/>
        </p:scale>
        <p:origin x="68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1641F5-86C8-43A2-8876-52550164584B}" type="datetimeFigureOut">
              <a:rPr lang="en-IN" smtClean="0"/>
              <a:pPr/>
              <a:t>01-02-2025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E95C0B-07F4-40D8-B615-25369811876B}" type="slidenum">
              <a:rPr lang="en-IN" smtClean="0"/>
              <a:pPr/>
              <a:t>‹#›</a:t>
            </a:fld>
            <a:endParaRPr lang="en-IN" dirty="0"/>
          </a:p>
        </p:txBody>
      </p:sp>
    </p:spTree>
    <p:extLst>
      <p:ext uri="{BB962C8B-B14F-4D97-AF65-F5344CB8AC3E}">
        <p14:creationId xmlns:p14="http://schemas.microsoft.com/office/powerpoint/2010/main" val="25519042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0600C79-D672-492A-8F18-94C23AE1DFB4}" type="slidenum">
              <a:rPr lang="en-US" smtClean="0"/>
              <a:pPr/>
              <a:t>2</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600C79-D672-492A-8F18-94C23AE1DFB4}" type="slidenum">
              <a:rPr lang="en-US" smtClean="0"/>
              <a:pPr/>
              <a:t>3</a:t>
            </a:fld>
            <a:endParaRPr lang="en-US" dirty="0"/>
          </a:p>
        </p:txBody>
      </p:sp>
    </p:spTree>
    <p:extLst>
      <p:ext uri="{BB962C8B-B14F-4D97-AF65-F5344CB8AC3E}">
        <p14:creationId xmlns:p14="http://schemas.microsoft.com/office/powerpoint/2010/main" val="285749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0600C79-D672-492A-8F18-94C23AE1DFB4}" type="slidenum">
              <a:rPr lang="en-US" smtClean="0"/>
              <a:pPr/>
              <a:t>9</a:t>
            </a:fld>
            <a:endParaRPr lang="en-US" dirty="0"/>
          </a:p>
        </p:txBody>
      </p:sp>
    </p:spTree>
    <p:extLst>
      <p:ext uri="{BB962C8B-B14F-4D97-AF65-F5344CB8AC3E}">
        <p14:creationId xmlns:p14="http://schemas.microsoft.com/office/powerpoint/2010/main" val="1541825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0600C79-D672-492A-8F18-94C23AE1DFB4}" type="slidenum">
              <a:rPr lang="en-US" smtClean="0"/>
              <a:pPr/>
              <a:t>10</a:t>
            </a:fld>
            <a:endParaRPr lang="en-US" dirty="0"/>
          </a:p>
        </p:txBody>
      </p:sp>
    </p:spTree>
    <p:extLst>
      <p:ext uri="{BB962C8B-B14F-4D97-AF65-F5344CB8AC3E}">
        <p14:creationId xmlns:p14="http://schemas.microsoft.com/office/powerpoint/2010/main" val="1541825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0600C79-D672-492A-8F18-94C23AE1DFB4}" type="slidenum">
              <a:rPr lang="en-US" smtClean="0"/>
              <a:pPr/>
              <a:t>20</a:t>
            </a:fld>
            <a:endParaRPr lang="en-US" dirty="0"/>
          </a:p>
        </p:txBody>
      </p:sp>
    </p:spTree>
    <p:extLst>
      <p:ext uri="{BB962C8B-B14F-4D97-AF65-F5344CB8AC3E}">
        <p14:creationId xmlns:p14="http://schemas.microsoft.com/office/powerpoint/2010/main" val="1541825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17F5029-F2BF-4B0D-84DC-BF947779F9DE}" type="datetime1">
              <a:rPr lang="en-IN" smtClean="0"/>
              <a:t>01-02-2025</a:t>
            </a:fld>
            <a:endParaRPr lang="en-IN" dirty="0"/>
          </a:p>
        </p:txBody>
      </p:sp>
      <p:sp>
        <p:nvSpPr>
          <p:cNvPr id="5" name="Footer Placeholder 4"/>
          <p:cNvSpPr>
            <a:spLocks noGrp="1"/>
          </p:cNvSpPr>
          <p:nvPr>
            <p:ph type="ftr" sz="quarter" idx="11"/>
          </p:nvPr>
        </p:nvSpPr>
        <p:spPr>
          <a:xfrm>
            <a:off x="5332412" y="5883275"/>
            <a:ext cx="4324044" cy="365125"/>
          </a:xfrm>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819311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E46AA2-2C8F-483D-8F0C-BDEDEBAD0263}"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a:xfrm>
            <a:off x="10951856" y="5867131"/>
            <a:ext cx="551167" cy="365125"/>
          </a:xfrm>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829056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BE39BD-B5D3-4A68-A9F4-87021EF514D2}"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2170025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C81F3F8-2AEE-4ED0-9B90-9D4F2B09D545}" type="datetime1">
              <a:rPr lang="en-IN" smtClean="0"/>
              <a:t>01-02-2025</a:t>
            </a:fld>
            <a:endParaRPr lang="en-IN" dirty="0"/>
          </a:p>
        </p:txBody>
      </p:sp>
      <p:sp>
        <p:nvSpPr>
          <p:cNvPr id="6" name="Footer Placeholder 5"/>
          <p:cNvSpPr>
            <a:spLocks noGrp="1"/>
          </p:cNvSpPr>
          <p:nvPr>
            <p:ph type="ftr" sz="quarter" idx="11"/>
          </p:nvPr>
        </p:nvSpPr>
        <p:spPr/>
        <p:txBody>
          <a:bodyPr/>
          <a:lstStyle/>
          <a:p>
            <a:r>
              <a:rPr lang="en-IN"/>
              <a:t>Dept. of E&amp;CE, PESITM, Shivamogga.</a:t>
            </a:r>
            <a:endParaRPr lang="en-IN" dirty="0"/>
          </a:p>
        </p:txBody>
      </p:sp>
      <p:sp>
        <p:nvSpPr>
          <p:cNvPr id="7" name="Slide Number Placeholder 6"/>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1258306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140928-27E0-4A73-BD62-42BE32B1DDF8}" type="datetime1">
              <a:rPr lang="en-IN" smtClean="0"/>
              <a:t>01-02-2025</a:t>
            </a:fld>
            <a:endParaRPr lang="en-IN" dirty="0"/>
          </a:p>
        </p:txBody>
      </p:sp>
      <p:sp>
        <p:nvSpPr>
          <p:cNvPr id="8" name="Footer Placeholder 7"/>
          <p:cNvSpPr>
            <a:spLocks noGrp="1"/>
          </p:cNvSpPr>
          <p:nvPr>
            <p:ph type="ftr" sz="quarter" idx="11"/>
          </p:nvPr>
        </p:nvSpPr>
        <p:spPr/>
        <p:txBody>
          <a:bodyPr/>
          <a:lstStyle/>
          <a:p>
            <a:r>
              <a:rPr lang="en-IN"/>
              <a:t>Dept. of E&amp;CE, PESITM, Shivamogga.</a:t>
            </a:r>
            <a:endParaRPr lang="en-IN" dirty="0"/>
          </a:p>
        </p:txBody>
      </p:sp>
      <p:sp>
        <p:nvSpPr>
          <p:cNvPr id="9" name="Slide Number Placeholder 8"/>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4266992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34FA977-91AF-4BDA-B1E8-7BA78C1EDAA9}" type="datetime1">
              <a:rPr lang="en-IN" smtClean="0"/>
              <a:t>01-02-2025</a:t>
            </a:fld>
            <a:endParaRPr lang="en-IN" dirty="0"/>
          </a:p>
        </p:txBody>
      </p:sp>
      <p:sp>
        <p:nvSpPr>
          <p:cNvPr id="4" name="Footer Placeholder 3"/>
          <p:cNvSpPr>
            <a:spLocks noGrp="1"/>
          </p:cNvSpPr>
          <p:nvPr>
            <p:ph type="ftr" sz="quarter" idx="11"/>
          </p:nvPr>
        </p:nvSpPr>
        <p:spPr/>
        <p:txBody>
          <a:bodyPr/>
          <a:lstStyle/>
          <a:p>
            <a:r>
              <a:rPr lang="en-IN"/>
              <a:t>Dept. of E&amp;CE, PESITM, Shivamogga.</a:t>
            </a:r>
            <a:endParaRPr lang="en-IN" dirty="0"/>
          </a:p>
        </p:txBody>
      </p:sp>
      <p:sp>
        <p:nvSpPr>
          <p:cNvPr id="5" name="Slide Number Placeholder 4"/>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3321784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585D03-D6AE-46F0-ACDD-5B733C55973E}" type="datetime1">
              <a:rPr lang="en-IN" smtClean="0"/>
              <a:t>01-02-2025</a:t>
            </a:fld>
            <a:endParaRPr lang="en-IN" dirty="0"/>
          </a:p>
        </p:txBody>
      </p:sp>
      <p:sp>
        <p:nvSpPr>
          <p:cNvPr id="3" name="Footer Placeholder 2"/>
          <p:cNvSpPr>
            <a:spLocks noGrp="1"/>
          </p:cNvSpPr>
          <p:nvPr>
            <p:ph type="ftr" sz="quarter" idx="11"/>
          </p:nvPr>
        </p:nvSpPr>
        <p:spPr/>
        <p:txBody>
          <a:bodyPr/>
          <a:lstStyle/>
          <a:p>
            <a:r>
              <a:rPr lang="en-IN"/>
              <a:t>Dept. of E&amp;CE, PESITM, Shivamogga.</a:t>
            </a:r>
            <a:endParaRPr lang="en-IN" dirty="0"/>
          </a:p>
        </p:txBody>
      </p:sp>
      <p:sp>
        <p:nvSpPr>
          <p:cNvPr id="4" name="Slide Number Placeholder 3"/>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3967138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53786F7-F561-4C14-9921-2782B923F0D9}" type="datetime1">
              <a:rPr lang="en-IN" smtClean="0"/>
              <a:t>01-02-2025</a:t>
            </a:fld>
            <a:endParaRPr lang="en-IN" dirty="0"/>
          </a:p>
        </p:txBody>
      </p:sp>
      <p:sp>
        <p:nvSpPr>
          <p:cNvPr id="6" name="Footer Placeholder 5"/>
          <p:cNvSpPr>
            <a:spLocks noGrp="1"/>
          </p:cNvSpPr>
          <p:nvPr>
            <p:ph type="ftr" sz="quarter" idx="11"/>
          </p:nvPr>
        </p:nvSpPr>
        <p:spPr/>
        <p:txBody>
          <a:bodyPr/>
          <a:lstStyle/>
          <a:p>
            <a:r>
              <a:rPr lang="en-IN"/>
              <a:t>Dept. of E&amp;CE, PESITM, Shivamogga.</a:t>
            </a:r>
            <a:endParaRPr lang="en-IN" dirty="0"/>
          </a:p>
        </p:txBody>
      </p:sp>
      <p:sp>
        <p:nvSpPr>
          <p:cNvPr id="7" name="Slide Number Placeholder 6"/>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28038392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C48115-8335-4C68-AA5C-B31343442E58}" type="datetime1">
              <a:rPr lang="en-IN" smtClean="0"/>
              <a:t>01-02-2025</a:t>
            </a:fld>
            <a:endParaRPr lang="en-IN" dirty="0"/>
          </a:p>
        </p:txBody>
      </p:sp>
      <p:sp>
        <p:nvSpPr>
          <p:cNvPr id="6" name="Footer Placeholder 5"/>
          <p:cNvSpPr>
            <a:spLocks noGrp="1"/>
          </p:cNvSpPr>
          <p:nvPr>
            <p:ph type="ftr" sz="quarter" idx="11"/>
          </p:nvPr>
        </p:nvSpPr>
        <p:spPr/>
        <p:txBody>
          <a:bodyPr/>
          <a:lstStyle/>
          <a:p>
            <a:r>
              <a:rPr lang="en-IN"/>
              <a:t>Dept. of E&amp;CE, PESITM, Shivamogga.</a:t>
            </a:r>
            <a:endParaRPr lang="en-IN" dirty="0"/>
          </a:p>
        </p:txBody>
      </p:sp>
      <p:sp>
        <p:nvSpPr>
          <p:cNvPr id="7" name="Slide Number Placeholder 6"/>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31123353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522313-9993-4167-B358-899C9D44C672}" type="datetime1">
              <a:rPr lang="en-IN" smtClean="0"/>
              <a:t>01-02-2025</a:t>
            </a:fld>
            <a:endParaRPr lang="en-IN" dirty="0"/>
          </a:p>
        </p:txBody>
      </p:sp>
      <p:sp>
        <p:nvSpPr>
          <p:cNvPr id="6" name="Footer Placeholder 5"/>
          <p:cNvSpPr>
            <a:spLocks noGrp="1"/>
          </p:cNvSpPr>
          <p:nvPr>
            <p:ph type="ftr" sz="quarter" idx="11"/>
          </p:nvPr>
        </p:nvSpPr>
        <p:spPr/>
        <p:txBody>
          <a:bodyPr/>
          <a:lstStyle/>
          <a:p>
            <a:r>
              <a:rPr lang="en-IN"/>
              <a:t>Dept. of E&amp;CE, PESITM, Shivamogga.</a:t>
            </a:r>
            <a:endParaRPr lang="en-IN" dirty="0"/>
          </a:p>
        </p:txBody>
      </p:sp>
      <p:sp>
        <p:nvSpPr>
          <p:cNvPr id="7" name="Slide Number Placeholder 6"/>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57353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73C0F2-6A6E-4410-9EC5-91B988F33821}"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1405882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0DE8030-A024-41F1-AC7F-5856AEE9A5AA}"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3985460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385B03-9485-4938-A024-FAF0E006E1A9}"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37686248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C24D3B-B3C7-4AE9-925B-0AC56A70DD0F}"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671520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D66D65-ADEA-4B68-96FF-8B8015711D34}"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383613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317666-E126-4E5D-A943-AE9D5B2F2F2D}"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29276088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2D2337-2048-48EA-97D2-CE5FCCAD294F}" type="datetime1">
              <a:rPr lang="en-IN" smtClean="0"/>
              <a:t>01-02-2025</a:t>
            </a:fld>
            <a:endParaRPr lang="en-IN" dirty="0"/>
          </a:p>
        </p:txBody>
      </p:sp>
      <p:sp>
        <p:nvSpPr>
          <p:cNvPr id="5" name="Footer Placeholder 4"/>
          <p:cNvSpPr>
            <a:spLocks noGrp="1"/>
          </p:cNvSpPr>
          <p:nvPr>
            <p:ph type="ftr" sz="quarter" idx="11"/>
          </p:nvPr>
        </p:nvSpPr>
        <p:spPr/>
        <p:txBody>
          <a:bodyPr/>
          <a:lstStyle/>
          <a:p>
            <a:r>
              <a:rPr lang="en-IN"/>
              <a:t>Dept. of E&amp;CE, PESITM, Shivamogga.</a:t>
            </a:r>
            <a:endParaRPr lang="en-IN" dirty="0"/>
          </a:p>
        </p:txBody>
      </p:sp>
      <p:sp>
        <p:nvSpPr>
          <p:cNvPr id="6" name="Slide Number Placeholder 5"/>
          <p:cNvSpPr>
            <a:spLocks noGrp="1"/>
          </p:cNvSpPr>
          <p:nvPr>
            <p:ph type="sldNum" sz="quarter" idx="12"/>
          </p:nvPr>
        </p:nvSpPr>
        <p:spPr/>
        <p:txBody>
          <a:body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17191873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88A03FD-E97F-4687-9AA5-0599C085AC52}" type="datetime1">
              <a:rPr lang="en-IN" smtClean="0"/>
              <a:t>01-02-2025</a:t>
            </a:fld>
            <a:endParaRPr lang="en-IN"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IN"/>
              <a:t>Dept. of E&amp;CE, PESITM, Shivamogga.</a:t>
            </a:r>
            <a:endParaRPr lang="en-IN"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68B2C7D-C21B-40D5-96D4-A6CB22B7CF2D}" type="slidenum">
              <a:rPr lang="en-IN" smtClean="0"/>
              <a:pPr/>
              <a:t>‹#›</a:t>
            </a:fld>
            <a:endParaRPr lang="en-IN" dirty="0"/>
          </a:p>
        </p:txBody>
      </p:sp>
    </p:spTree>
    <p:extLst>
      <p:ext uri="{BB962C8B-B14F-4D97-AF65-F5344CB8AC3E}">
        <p14:creationId xmlns:p14="http://schemas.microsoft.com/office/powerpoint/2010/main" val="80254555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hf hdr="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4" name="Picture 3" descr="C:\Documents and Settings\Home\My Documents\downloads\images.jpg"/>
          <p:cNvPicPr>
            <a:picLocks/>
          </p:cNvPicPr>
          <p:nvPr/>
        </p:nvPicPr>
        <p:blipFill>
          <a:blip r:embed="rId2" cstate="print"/>
          <a:srcRect/>
          <a:stretch>
            <a:fillRect/>
          </a:stretch>
        </p:blipFill>
        <p:spPr bwMode="auto">
          <a:xfrm>
            <a:off x="1600200" y="0"/>
            <a:ext cx="914400" cy="990600"/>
          </a:xfrm>
          <a:prstGeom prst="rect">
            <a:avLst/>
          </a:prstGeom>
          <a:noFill/>
          <a:ln w="9525">
            <a:noFill/>
            <a:miter lim="800000"/>
            <a:headEnd/>
            <a:tailEnd/>
          </a:ln>
        </p:spPr>
      </p:pic>
      <p:sp>
        <p:nvSpPr>
          <p:cNvPr id="15" name="Rectangle 1"/>
          <p:cNvSpPr>
            <a:spLocks noChangeArrowheads="1"/>
          </p:cNvSpPr>
          <p:nvPr/>
        </p:nvSpPr>
        <p:spPr bwMode="auto">
          <a:xfrm>
            <a:off x="1524000" y="76201"/>
            <a:ext cx="91440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defTabSz="914400" fontAlgn="base">
              <a:spcBef>
                <a:spcPct val="0"/>
              </a:spcBef>
              <a:spcAft>
                <a:spcPct val="0"/>
              </a:spcAft>
            </a:pPr>
            <a:r>
              <a:rPr lang="en-US" sz="2400" b="1" dirty="0">
                <a:ln w="10541" cmpd="sng">
                  <a:solidFill>
                    <a:schemeClr val="accent1">
                      <a:shade val="88000"/>
                      <a:satMod val="110000"/>
                    </a:schemeClr>
                  </a:solidFill>
                  <a:prstDash val="solid"/>
                </a:ln>
                <a:latin typeface="Times New Roman" pitchFamily="18" charset="0"/>
                <a:ea typeface="Times New Roman" pitchFamily="18" charset="0"/>
                <a:cs typeface="Times New Roman" pitchFamily="18" charset="0"/>
              </a:rPr>
              <a:t>Visvesvaraya Technological University,</a:t>
            </a:r>
            <a:r>
              <a:rPr lang="en-US" sz="2400" b="1" dirty="0">
                <a:ln w="10541" cmpd="sng">
                  <a:solidFill>
                    <a:schemeClr val="accent1">
                      <a:shade val="88000"/>
                      <a:satMod val="110000"/>
                    </a:schemeClr>
                  </a:solidFill>
                  <a:prstDash val="solid"/>
                </a:ln>
                <a:latin typeface="Times New Roman" pitchFamily="18" charset="0"/>
                <a:cs typeface="Times New Roman" pitchFamily="18" charset="0"/>
              </a:rPr>
              <a:t> </a:t>
            </a:r>
            <a:r>
              <a:rPr lang="en-US" sz="2400" b="1" dirty="0">
                <a:ln w="10541" cmpd="sng">
                  <a:solidFill>
                    <a:schemeClr val="accent1">
                      <a:shade val="88000"/>
                      <a:satMod val="110000"/>
                    </a:schemeClr>
                  </a:solidFill>
                  <a:prstDash val="solid"/>
                </a:ln>
                <a:latin typeface="Times New Roman" pitchFamily="18" charset="0"/>
                <a:ea typeface="Times New Roman" pitchFamily="18" charset="0"/>
                <a:cs typeface="Times New Roman" pitchFamily="18" charset="0"/>
              </a:rPr>
              <a:t>Belgaum.</a:t>
            </a:r>
            <a:endParaRPr lang="en-US" sz="2400" b="1" dirty="0">
              <a:ln w="10541" cmpd="sng">
                <a:solidFill>
                  <a:schemeClr val="accent1">
                    <a:shade val="88000"/>
                    <a:satMod val="110000"/>
                  </a:schemeClr>
                </a:solidFill>
                <a:prstDash val="solid"/>
              </a:ln>
              <a:latin typeface="Times New Roman" pitchFamily="18" charset="0"/>
              <a:cs typeface="Times New Roman" pitchFamily="18" charset="0"/>
            </a:endParaRPr>
          </a:p>
        </p:txBody>
      </p:sp>
      <p:sp>
        <p:nvSpPr>
          <p:cNvPr id="16" name="TextBox 5"/>
          <p:cNvSpPr txBox="1"/>
          <p:nvPr/>
        </p:nvSpPr>
        <p:spPr>
          <a:xfrm>
            <a:off x="1524000" y="1897380"/>
            <a:ext cx="9144000" cy="838200"/>
          </a:xfrm>
          <a:prstGeom prst="rect">
            <a:avLst/>
          </a:prstGeom>
          <a:noFill/>
        </p:spPr>
        <p:txBody>
          <a:bodyPr wrap="square" rtlCol="0">
            <a:noAutofit/>
          </a:bodyPr>
          <a:lstStyle/>
          <a:p>
            <a:pPr algn="ctr"/>
            <a:r>
              <a:rPr lang="en-GB" sz="2400" b="1" dirty="0">
                <a:ln w="10541" cmpd="sng">
                  <a:solidFill>
                    <a:schemeClr val="accent1">
                      <a:shade val="88000"/>
                      <a:satMod val="110000"/>
                    </a:schemeClr>
                  </a:solidFill>
                  <a:prstDash val="solid"/>
                </a:ln>
                <a:solidFill>
                  <a:srgbClr val="002060"/>
                </a:solidFill>
                <a:latin typeface="Baskerville Old Face" pitchFamily="18" charset="0"/>
                <a:cs typeface="Aharoni" pitchFamily="2" charset="-79"/>
              </a:rPr>
              <a:t>“DESIGN AND SIMULATION OF FFT PROCESSOR FOR VARIABLE INPUT LENGTH”</a:t>
            </a:r>
            <a:endParaRPr lang="en-US" sz="2400" b="1" dirty="0">
              <a:ln w="10541" cmpd="sng">
                <a:solidFill>
                  <a:schemeClr val="accent1">
                    <a:shade val="88000"/>
                    <a:satMod val="110000"/>
                  </a:schemeClr>
                </a:solidFill>
                <a:prstDash val="solid"/>
              </a:ln>
              <a:solidFill>
                <a:srgbClr val="002060"/>
              </a:solidFill>
              <a:latin typeface="Baskerville Old Face" pitchFamily="18" charset="0"/>
              <a:cs typeface="Aharoni" pitchFamily="2" charset="-79"/>
            </a:endParaRPr>
          </a:p>
        </p:txBody>
      </p:sp>
      <p:sp>
        <p:nvSpPr>
          <p:cNvPr id="17" name="Rectangle 2"/>
          <p:cNvSpPr>
            <a:spLocks noChangeArrowheads="1"/>
          </p:cNvSpPr>
          <p:nvPr/>
        </p:nvSpPr>
        <p:spPr bwMode="auto">
          <a:xfrm>
            <a:off x="1524000" y="1428690"/>
            <a:ext cx="8991600"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defTabSz="914400" fontAlgn="base">
              <a:spcBef>
                <a:spcPct val="0"/>
              </a:spcBef>
              <a:spcAft>
                <a:spcPct val="0"/>
              </a:spcAft>
            </a:pPr>
            <a:r>
              <a:rPr lang="en-US" sz="2000" b="1" dirty="0">
                <a:ln w="1905"/>
                <a:solidFill>
                  <a:srgbClr val="7030A0"/>
                </a:solidFill>
                <a:effectLst>
                  <a:innerShdw blurRad="69850" dist="43180" dir="5400000">
                    <a:srgbClr val="000000">
                      <a:alpha val="65000"/>
                    </a:srgbClr>
                  </a:innerShdw>
                </a:effectLst>
                <a:latin typeface="Times New Roman" pitchFamily="18" charset="0"/>
                <a:ea typeface="Times New Roman" pitchFamily="18" charset="0"/>
                <a:cs typeface="Times New Roman" pitchFamily="18" charset="0"/>
              </a:rPr>
              <a:t>Department of Electronics and Communication Engineering.</a:t>
            </a:r>
            <a:endParaRPr lang="en-US" sz="2000" b="1" dirty="0">
              <a:ln w="1905"/>
              <a:solidFill>
                <a:srgbClr val="7030A0"/>
              </a:solidFill>
              <a:effectLst>
                <a:innerShdw blurRad="69850" dist="43180" dir="5400000">
                  <a:srgbClr val="000000">
                    <a:alpha val="65000"/>
                  </a:srgbClr>
                </a:innerShdw>
              </a:effectLst>
              <a:latin typeface="Times New Roman" pitchFamily="18" charset="0"/>
              <a:cs typeface="Times New Roman" pitchFamily="18" charset="0"/>
            </a:endParaRPr>
          </a:p>
        </p:txBody>
      </p:sp>
      <p:sp>
        <p:nvSpPr>
          <p:cNvPr id="18" name="Rectangle 2"/>
          <p:cNvSpPr>
            <a:spLocks noChangeArrowheads="1"/>
          </p:cNvSpPr>
          <p:nvPr/>
        </p:nvSpPr>
        <p:spPr bwMode="auto">
          <a:xfrm>
            <a:off x="1600200" y="616804"/>
            <a:ext cx="8991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ctr" defTabSz="914400" fontAlgn="base">
              <a:spcBef>
                <a:spcPct val="0"/>
              </a:spcBef>
              <a:spcAft>
                <a:spcPct val="0"/>
              </a:spcAft>
            </a:pPr>
            <a:r>
              <a:rPr lang="en-US" sz="2400" b="1" dirty="0">
                <a:ln w="10541" cmpd="sng">
                  <a:solidFill>
                    <a:schemeClr val="accent1">
                      <a:shade val="88000"/>
                      <a:satMod val="110000"/>
                    </a:schemeClr>
                  </a:solidFill>
                  <a:prstDash val="solid"/>
                </a:ln>
                <a:latin typeface="Times New Roman" pitchFamily="18" charset="0"/>
                <a:ea typeface="Times New Roman" pitchFamily="18" charset="0"/>
                <a:cs typeface="Times New Roman" pitchFamily="18" charset="0"/>
              </a:rPr>
              <a:t>P E S Institute of Technology and Management, </a:t>
            </a:r>
          </a:p>
          <a:p>
            <a:pPr algn="ctr" defTabSz="914400" fontAlgn="base">
              <a:spcBef>
                <a:spcPct val="0"/>
              </a:spcBef>
              <a:spcAft>
                <a:spcPct val="0"/>
              </a:spcAft>
            </a:pPr>
            <a:r>
              <a:rPr lang="en-US" sz="2400" b="1" dirty="0">
                <a:ln w="10541" cmpd="sng">
                  <a:solidFill>
                    <a:schemeClr val="accent1">
                      <a:shade val="88000"/>
                      <a:satMod val="110000"/>
                    </a:schemeClr>
                  </a:solidFill>
                  <a:prstDash val="solid"/>
                </a:ln>
                <a:latin typeface="Times New Roman" pitchFamily="18" charset="0"/>
                <a:ea typeface="Times New Roman" pitchFamily="18" charset="0"/>
                <a:cs typeface="Times New Roman" pitchFamily="18" charset="0"/>
              </a:rPr>
              <a:t>Shivamogga.</a:t>
            </a:r>
            <a:endParaRPr lang="en-US" sz="2400" b="1" dirty="0">
              <a:ln w="10541" cmpd="sng">
                <a:solidFill>
                  <a:schemeClr val="accent1">
                    <a:shade val="88000"/>
                    <a:satMod val="110000"/>
                  </a:schemeClr>
                </a:solidFill>
                <a:prstDash val="solid"/>
              </a:ln>
              <a:latin typeface="Times New Roman" pitchFamily="18" charset="0"/>
              <a:cs typeface="Times New Roman" pitchFamily="18" charset="0"/>
            </a:endParaRPr>
          </a:p>
        </p:txBody>
      </p:sp>
      <p:pic>
        <p:nvPicPr>
          <p:cNvPr id="19" name="irc_mi" descr="http://pestrust.edu.in/pesitm/wp-content/uploads/2015/08/pesit-logo.png"/>
          <p:cNvPicPr>
            <a:picLocks/>
          </p:cNvPicPr>
          <p:nvPr/>
        </p:nvPicPr>
        <p:blipFill>
          <a:blip r:embed="rId3" cstate="print"/>
          <a:srcRect/>
          <a:stretch>
            <a:fillRect/>
          </a:stretch>
        </p:blipFill>
        <p:spPr bwMode="auto">
          <a:xfrm>
            <a:off x="9557904" y="0"/>
            <a:ext cx="957696" cy="990600"/>
          </a:xfrm>
          <a:prstGeom prst="rect">
            <a:avLst/>
          </a:prstGeom>
          <a:noFill/>
          <a:ln w="9525">
            <a:noFill/>
            <a:miter lim="800000"/>
            <a:headEnd/>
            <a:tailEnd/>
          </a:ln>
        </p:spPr>
      </p:pic>
      <p:graphicFrame>
        <p:nvGraphicFramePr>
          <p:cNvPr id="20" name="Table 10"/>
          <p:cNvGraphicFramePr>
            <a:graphicFrameLocks noGrp="1"/>
          </p:cNvGraphicFramePr>
          <p:nvPr>
            <p:extLst>
              <p:ext uri="{D42A27DB-BD31-4B8C-83A1-F6EECF244321}">
                <p14:modId xmlns:p14="http://schemas.microsoft.com/office/powerpoint/2010/main" val="1002647550"/>
              </p:ext>
            </p:extLst>
          </p:nvPr>
        </p:nvGraphicFramePr>
        <p:xfrm>
          <a:off x="2057400" y="2819400"/>
          <a:ext cx="8001000" cy="3992880"/>
        </p:xfrm>
        <a:graphic>
          <a:graphicData uri="http://schemas.openxmlformats.org/drawingml/2006/table">
            <a:tbl>
              <a:tblPr firstRow="1" bandRow="1">
                <a:tableStyleId>{5940675A-B579-460E-94D1-54222C63F5DA}</a:tableStyleId>
              </a:tblPr>
              <a:tblGrid>
                <a:gridCol w="8001000">
                  <a:extLst>
                    <a:ext uri="{9D8B030D-6E8A-4147-A177-3AD203B41FA5}">
                      <a16:colId xmlns:a16="http://schemas.microsoft.com/office/drawing/2014/main" val="20000"/>
                    </a:ext>
                  </a:extLst>
                </a:gridCol>
              </a:tblGrid>
              <a:tr h="1483360">
                <a:tc>
                  <a:txBody>
                    <a:bodyPr/>
                    <a:lstStyle/>
                    <a:p>
                      <a:pPr algn="ctr"/>
                      <a:r>
                        <a:rPr lang="en-US" sz="1800" b="0" dirty="0">
                          <a:latin typeface="Times New Roman" pitchFamily="18" charset="0"/>
                          <a:cs typeface="Times New Roman" pitchFamily="18" charset="0"/>
                        </a:rPr>
                        <a:t>Presentation by</a:t>
                      </a:r>
                    </a:p>
                    <a:p>
                      <a:pPr algn="ctr"/>
                      <a:endParaRPr lang="en-US" sz="1800" b="0" dirty="0">
                        <a:latin typeface="Times New Roman" pitchFamily="18" charset="0"/>
                        <a:cs typeface="Times New Roman" pitchFamily="18" charset="0"/>
                      </a:endParaRPr>
                    </a:p>
                    <a:p>
                      <a:pPr algn="ctr"/>
                      <a:r>
                        <a:rPr lang="en-US" sz="1800" b="1" dirty="0">
                          <a:latin typeface="Times New Roman" pitchFamily="18" charset="0"/>
                          <a:cs typeface="Times New Roman" pitchFamily="18" charset="0"/>
                        </a:rPr>
                        <a:t> Mr.</a:t>
                      </a:r>
                      <a:r>
                        <a:rPr lang="en-GB" sz="1800" b="1" dirty="0">
                          <a:latin typeface="Times New Roman" pitchFamily="18" charset="0"/>
                          <a:cs typeface="Times New Roman" pitchFamily="18" charset="0"/>
                        </a:rPr>
                        <a:t> HEMANTH D             </a:t>
                      </a:r>
                      <a:r>
                        <a:rPr lang="en-US" sz="1800" b="1" kern="1200" dirty="0">
                          <a:solidFill>
                            <a:schemeClr val="tx1"/>
                          </a:solidFill>
                          <a:latin typeface="Times New Roman" pitchFamily="18" charset="0"/>
                          <a:ea typeface="+mn-ea"/>
                          <a:cs typeface="Times New Roman" pitchFamily="18" charset="0"/>
                        </a:rPr>
                        <a:t>	 USN : 4PM</a:t>
                      </a:r>
                      <a:r>
                        <a:rPr lang="en-GB" sz="1800" b="1" kern="1200" dirty="0">
                          <a:solidFill>
                            <a:schemeClr val="tx1"/>
                          </a:solidFill>
                          <a:latin typeface="Times New Roman" pitchFamily="18" charset="0"/>
                          <a:ea typeface="+mn-ea"/>
                          <a:cs typeface="Times New Roman" pitchFamily="18" charset="0"/>
                        </a:rPr>
                        <a:t>21EC035</a:t>
                      </a:r>
                    </a:p>
                    <a:p>
                      <a:pPr algn="ctr"/>
                      <a:r>
                        <a:rPr lang="en-US" sz="1800" b="1" kern="1200" dirty="0">
                          <a:solidFill>
                            <a:schemeClr val="tx1"/>
                          </a:solidFill>
                          <a:latin typeface="Times New Roman" pitchFamily="18" charset="0"/>
                          <a:ea typeface="+mn-ea"/>
                          <a:cs typeface="Times New Roman" pitchFamily="18" charset="0"/>
                        </a:rPr>
                        <a:t> Ms.</a:t>
                      </a:r>
                      <a:r>
                        <a:rPr lang="en-GB" sz="1800" b="1" kern="1200" dirty="0">
                          <a:solidFill>
                            <a:schemeClr val="tx1"/>
                          </a:solidFill>
                          <a:latin typeface="Times New Roman" pitchFamily="18" charset="0"/>
                          <a:ea typeface="+mn-ea"/>
                          <a:cs typeface="Times New Roman" pitchFamily="18" charset="0"/>
                        </a:rPr>
                        <a:t> K S DEEKSHA </a:t>
                      </a:r>
                      <a:r>
                        <a:rPr lang="en-GB" sz="1800" b="1" dirty="0">
                          <a:latin typeface="Times New Roman" pitchFamily="18" charset="0"/>
                          <a:cs typeface="Times New Roman" pitchFamily="18" charset="0"/>
                        </a:rPr>
                        <a:t>    </a:t>
                      </a:r>
                      <a:r>
                        <a:rPr lang="en-US" sz="1800" b="1" kern="1200" dirty="0">
                          <a:solidFill>
                            <a:schemeClr val="tx1"/>
                          </a:solidFill>
                          <a:latin typeface="Times New Roman" pitchFamily="18" charset="0"/>
                          <a:ea typeface="+mn-ea"/>
                          <a:cs typeface="Times New Roman" pitchFamily="18" charset="0"/>
                        </a:rPr>
                        <a:t>	 USN : 4PM</a:t>
                      </a:r>
                      <a:r>
                        <a:rPr lang="en-GB" sz="1800" b="1" kern="1200" dirty="0">
                          <a:solidFill>
                            <a:schemeClr val="tx1"/>
                          </a:solidFill>
                          <a:latin typeface="Times New Roman" pitchFamily="18" charset="0"/>
                          <a:ea typeface="+mn-ea"/>
                          <a:cs typeface="Times New Roman" pitchFamily="18" charset="0"/>
                        </a:rPr>
                        <a:t>21EC038</a:t>
                      </a:r>
                      <a:endParaRPr lang="en-US" sz="1800" b="1" kern="1200" dirty="0">
                        <a:solidFill>
                          <a:schemeClr val="tx1"/>
                        </a:solidFill>
                        <a:latin typeface="Times New Roman" pitchFamily="18" charset="0"/>
                        <a:ea typeface="+mn-ea"/>
                        <a:cs typeface="Times New Roman" pitchFamily="18" charset="0"/>
                      </a:endParaRPr>
                    </a:p>
                    <a:p>
                      <a:pPr marL="0" marR="0" indent="0" algn="ctr" defTabSz="914400" rtl="0" eaLnBrk="1" fontAlgn="auto" latinLnBrk="0" hangingPunct="1">
                        <a:lnSpc>
                          <a:spcPct val="100000"/>
                        </a:lnSpc>
                        <a:spcBef>
                          <a:spcPts val="0"/>
                        </a:spcBef>
                        <a:spcAft>
                          <a:spcPts val="0"/>
                        </a:spcAft>
                        <a:buClrTx/>
                        <a:buSzTx/>
                        <a:buFontTx/>
                        <a:buNone/>
                      </a:pPr>
                      <a:r>
                        <a:rPr lang="en-US" sz="1800" b="1" kern="1200" dirty="0">
                          <a:solidFill>
                            <a:schemeClr val="tx1"/>
                          </a:solidFill>
                          <a:latin typeface="Times New Roman" pitchFamily="18" charset="0"/>
                          <a:ea typeface="+mn-ea"/>
                          <a:cs typeface="Times New Roman" pitchFamily="18" charset="0"/>
                        </a:rPr>
                        <a:t> Mr. </a:t>
                      </a:r>
                      <a:r>
                        <a:rPr lang="en-GB" sz="1800" b="1" kern="1200" dirty="0">
                          <a:solidFill>
                            <a:schemeClr val="tx1"/>
                          </a:solidFill>
                          <a:latin typeface="Times New Roman" pitchFamily="18" charset="0"/>
                          <a:ea typeface="+mn-ea"/>
                          <a:cs typeface="Times New Roman" pitchFamily="18" charset="0"/>
                        </a:rPr>
                        <a:t>PRAJWAL H D</a:t>
                      </a:r>
                      <a:r>
                        <a:rPr lang="en-GB" sz="1800" b="1" dirty="0">
                          <a:latin typeface="Times New Roman" pitchFamily="18" charset="0"/>
                          <a:cs typeface="Times New Roman" pitchFamily="18" charset="0"/>
                        </a:rPr>
                        <a:t> </a:t>
                      </a:r>
                      <a:r>
                        <a:rPr lang="en-US" sz="1800" b="1" kern="1200" dirty="0">
                          <a:solidFill>
                            <a:schemeClr val="tx1"/>
                          </a:solidFill>
                          <a:latin typeface="Times New Roman" pitchFamily="18" charset="0"/>
                          <a:ea typeface="+mn-ea"/>
                          <a:cs typeface="Times New Roman" pitchFamily="18" charset="0"/>
                        </a:rPr>
                        <a:t>	 USN : 4PM</a:t>
                      </a:r>
                      <a:r>
                        <a:rPr lang="en-GB" sz="1800" b="1" kern="1200" dirty="0">
                          <a:solidFill>
                            <a:schemeClr val="tx1"/>
                          </a:solidFill>
                          <a:latin typeface="Times New Roman" pitchFamily="18" charset="0"/>
                          <a:ea typeface="+mn-ea"/>
                          <a:cs typeface="Times New Roman" pitchFamily="18" charset="0"/>
                        </a:rPr>
                        <a:t>21EC073</a:t>
                      </a:r>
                    </a:p>
                    <a:p>
                      <a:pPr marL="0" marR="0" indent="0" algn="ctr" defTabSz="914400" rtl="0" eaLnBrk="1" fontAlgn="auto" latinLnBrk="0" hangingPunct="1">
                        <a:lnSpc>
                          <a:spcPct val="100000"/>
                        </a:lnSpc>
                        <a:spcBef>
                          <a:spcPts val="0"/>
                        </a:spcBef>
                        <a:spcAft>
                          <a:spcPts val="0"/>
                        </a:spcAft>
                        <a:buClrTx/>
                        <a:buSzTx/>
                        <a:buFontTx/>
                        <a:buNone/>
                      </a:pPr>
                      <a:r>
                        <a:rPr lang="en-US" sz="1800" b="1" kern="1200" dirty="0">
                          <a:solidFill>
                            <a:schemeClr val="tx1"/>
                          </a:solidFill>
                          <a:latin typeface="Times New Roman" pitchFamily="18" charset="0"/>
                          <a:ea typeface="+mn-ea"/>
                          <a:cs typeface="Times New Roman" pitchFamily="18" charset="0"/>
                        </a:rPr>
                        <a:t> Ms. </a:t>
                      </a:r>
                      <a:r>
                        <a:rPr lang="en-GB" sz="1800" b="1" kern="1200" dirty="0">
                          <a:solidFill>
                            <a:schemeClr val="tx1"/>
                          </a:solidFill>
                          <a:latin typeface="Times New Roman" pitchFamily="18" charset="0"/>
                          <a:ea typeface="+mn-ea"/>
                          <a:cs typeface="Times New Roman" pitchFamily="18" charset="0"/>
                        </a:rPr>
                        <a:t>PRIYA B G    </a:t>
                      </a:r>
                      <a:r>
                        <a:rPr lang="en-US" sz="1800" b="1" kern="1200" dirty="0">
                          <a:solidFill>
                            <a:schemeClr val="tx1"/>
                          </a:solidFill>
                          <a:latin typeface="Times New Roman" pitchFamily="18" charset="0"/>
                          <a:ea typeface="+mn-ea"/>
                          <a:cs typeface="Times New Roman" pitchFamily="18" charset="0"/>
                        </a:rPr>
                        <a:t>	 USN : 4PM</a:t>
                      </a:r>
                      <a:r>
                        <a:rPr lang="en-GB" sz="1800" b="1" kern="1200" dirty="0">
                          <a:solidFill>
                            <a:schemeClr val="tx1"/>
                          </a:solidFill>
                          <a:latin typeface="Times New Roman" pitchFamily="18" charset="0"/>
                          <a:ea typeface="+mn-ea"/>
                          <a:cs typeface="Times New Roman" pitchFamily="18" charset="0"/>
                        </a:rPr>
                        <a:t>22EC419</a:t>
                      </a:r>
                      <a:endParaRPr lang="en-US" sz="1800" b="1" kern="1200" dirty="0">
                        <a:solidFill>
                          <a:schemeClr val="tx1"/>
                        </a:solidFill>
                        <a:latin typeface="Times New Roman" pitchFamily="18" charset="0"/>
                        <a:ea typeface="+mn-ea"/>
                        <a:cs typeface="Times New Roman" pitchFamily="18" charset="0"/>
                      </a:endParaRPr>
                    </a:p>
                    <a:p>
                      <a:pPr algn="ctr"/>
                      <a:endParaRPr lang="en-US" sz="1600" b="0" baseline="0" dirty="0">
                        <a:latin typeface="Times New Roman" pitchFamily="18" charset="0"/>
                        <a:cs typeface="Times New Roman" pitchFamily="18" charset="0"/>
                      </a:endParaRPr>
                    </a:p>
                    <a:p>
                      <a:pPr algn="ctr"/>
                      <a:r>
                        <a:rPr lang="en-US" sz="1600" b="0" baseline="0" dirty="0">
                          <a:latin typeface="Times New Roman" pitchFamily="18" charset="0"/>
                          <a:cs typeface="Times New Roman" pitchFamily="18" charset="0"/>
                        </a:rPr>
                        <a:t>7</a:t>
                      </a:r>
                      <a:r>
                        <a:rPr lang="en-US" sz="1600" b="0" baseline="30000" dirty="0">
                          <a:latin typeface="Times New Roman" pitchFamily="18" charset="0"/>
                          <a:cs typeface="Times New Roman" pitchFamily="18" charset="0"/>
                        </a:rPr>
                        <a:t>th</a:t>
                      </a:r>
                      <a:r>
                        <a:rPr lang="en-US" sz="1600" b="0" dirty="0">
                          <a:latin typeface="Times New Roman" pitchFamily="18" charset="0"/>
                          <a:cs typeface="Times New Roman" pitchFamily="18" charset="0"/>
                        </a:rPr>
                        <a:t> Semester, Dept. of E&amp;CE,</a:t>
                      </a:r>
                    </a:p>
                    <a:p>
                      <a:pPr algn="ctr"/>
                      <a:r>
                        <a:rPr lang="en-US" sz="1600" b="0" dirty="0">
                          <a:latin typeface="Times New Roman" pitchFamily="18" charset="0"/>
                          <a:cs typeface="Times New Roman" pitchFamily="18" charset="0"/>
                        </a:rPr>
                        <a:t>PESITM, Shivamogga.</a:t>
                      </a:r>
                    </a:p>
                    <a:p>
                      <a:pPr algn="ctr"/>
                      <a:endParaRPr lang="en-US" sz="1600" b="0" dirty="0">
                        <a:latin typeface="Times New Roman" pitchFamily="18" charset="0"/>
                        <a:cs typeface="Times New Roman" pitchFamily="18" charset="0"/>
                      </a:endParaRPr>
                    </a:p>
                    <a:p>
                      <a:pPr algn="ctr"/>
                      <a:r>
                        <a:rPr lang="en-US" sz="1800" b="0" kern="1200" dirty="0">
                          <a:solidFill>
                            <a:schemeClr val="tx1"/>
                          </a:solidFill>
                          <a:latin typeface="Times New Roman" pitchFamily="18" charset="0"/>
                          <a:ea typeface="+mn-ea"/>
                          <a:cs typeface="Times New Roman" pitchFamily="18" charset="0"/>
                        </a:rPr>
                        <a:t>Under the Guidance of</a:t>
                      </a:r>
                    </a:p>
                    <a:p>
                      <a:pPr algn="ctr"/>
                      <a:r>
                        <a:rPr lang="en-US" sz="1800" b="1" kern="1200" dirty="0">
                          <a:solidFill>
                            <a:schemeClr val="tx1"/>
                          </a:solidFill>
                          <a:latin typeface="Times New Roman" pitchFamily="18" charset="0"/>
                          <a:ea typeface="+mn-ea"/>
                          <a:cs typeface="Times New Roman" pitchFamily="18" charset="0"/>
                        </a:rPr>
                        <a:t>Dr. </a:t>
                      </a:r>
                      <a:r>
                        <a:rPr lang="en-GB" sz="1800" b="1" kern="1200" dirty="0">
                          <a:solidFill>
                            <a:schemeClr val="tx1"/>
                          </a:solidFill>
                          <a:latin typeface="Times New Roman" pitchFamily="18" charset="0"/>
                          <a:ea typeface="+mn-ea"/>
                          <a:cs typeface="Times New Roman" pitchFamily="18" charset="0"/>
                        </a:rPr>
                        <a:t>Mahantesh P. Mattada</a:t>
                      </a:r>
                      <a:endParaRPr lang="en-US" sz="1800" b="1" kern="1200" dirty="0">
                        <a:solidFill>
                          <a:schemeClr val="tx1"/>
                        </a:solidFill>
                        <a:latin typeface="Times New Roman" pitchFamily="18" charset="0"/>
                        <a:ea typeface="+mn-ea"/>
                        <a:cs typeface="Times New Roman" pitchFamily="18" charset="0"/>
                      </a:endParaRPr>
                    </a:p>
                    <a:p>
                      <a:pPr algn="ctr"/>
                      <a:r>
                        <a:rPr lang="en-US" sz="1600" dirty="0">
                          <a:latin typeface="Times New Roman" pitchFamily="18" charset="0"/>
                          <a:cs typeface="Times New Roman" pitchFamily="18" charset="0"/>
                        </a:rPr>
                        <a:t>Associate</a:t>
                      </a:r>
                      <a:r>
                        <a:rPr lang="en-US" sz="1600" baseline="0" dirty="0">
                          <a:latin typeface="Times New Roman" pitchFamily="18" charset="0"/>
                          <a:cs typeface="Times New Roman" pitchFamily="18" charset="0"/>
                        </a:rPr>
                        <a:t> </a:t>
                      </a:r>
                      <a:r>
                        <a:rPr lang="en-US" sz="1600" dirty="0">
                          <a:latin typeface="Times New Roman" pitchFamily="18" charset="0"/>
                          <a:cs typeface="Times New Roman" pitchFamily="18" charset="0"/>
                        </a:rPr>
                        <a:t>Professor</a:t>
                      </a:r>
                    </a:p>
                    <a:p>
                      <a:pPr algn="ctr"/>
                      <a:r>
                        <a:rPr lang="en-US" sz="1600" dirty="0">
                          <a:latin typeface="Times New Roman" pitchFamily="18" charset="0"/>
                          <a:cs typeface="Times New Roman" pitchFamily="18" charset="0"/>
                        </a:rPr>
                        <a:t>Dept. of E&amp;CE, PESITM,</a:t>
                      </a:r>
                      <a:r>
                        <a:rPr lang="en-US" sz="1600" baseline="0" dirty="0">
                          <a:latin typeface="Times New Roman" pitchFamily="18" charset="0"/>
                          <a:cs typeface="Times New Roman" pitchFamily="18" charset="0"/>
                        </a:rPr>
                        <a:t> Shivamogga.</a:t>
                      </a:r>
                    </a:p>
                    <a:p>
                      <a:pPr algn="ctr"/>
                      <a:endParaRPr lang="en-US" sz="1600" b="0" dirty="0">
                        <a:latin typeface="Times New Roman" pitchFamily="18" charset="0"/>
                        <a:cs typeface="Times New Roman"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0000"/>
                  </a:ext>
                </a:extLst>
              </a:tr>
            </a:tbl>
          </a:graphicData>
        </a:graphic>
      </p:graphicFrame>
      <p:cxnSp>
        <p:nvCxnSpPr>
          <p:cNvPr id="21" name="Straight Connector 11"/>
          <p:cNvCxnSpPr>
            <a:cxnSpLocks/>
          </p:cNvCxnSpPr>
          <p:nvPr/>
        </p:nvCxnSpPr>
        <p:spPr>
          <a:xfrm>
            <a:off x="1524000" y="1827212"/>
            <a:ext cx="9144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12"/>
          <p:cNvCxnSpPr>
            <a:cxnSpLocks/>
          </p:cNvCxnSpPr>
          <p:nvPr/>
        </p:nvCxnSpPr>
        <p:spPr>
          <a:xfrm>
            <a:off x="1524000" y="1807520"/>
            <a:ext cx="9144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13"/>
          <p:cNvCxnSpPr>
            <a:cxnSpLocks/>
          </p:cNvCxnSpPr>
          <p:nvPr/>
        </p:nvCxnSpPr>
        <p:spPr>
          <a:xfrm>
            <a:off x="1524000" y="2733992"/>
            <a:ext cx="9144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14"/>
          <p:cNvCxnSpPr>
            <a:cxnSpLocks/>
          </p:cNvCxnSpPr>
          <p:nvPr/>
        </p:nvCxnSpPr>
        <p:spPr>
          <a:xfrm>
            <a:off x="1524000" y="2714300"/>
            <a:ext cx="9144000" cy="15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0650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r>
              <a:rPr lang="en-US" sz="1500" dirty="0">
                <a:latin typeface="Times New Roman" panose="02020603050405020304" pitchFamily="18" charset="0"/>
                <a:cs typeface="Times New Roman" panose="02020603050405020304" pitchFamily="18" charset="0"/>
              </a:rPr>
              <a:t>1</a:t>
            </a:r>
          </a:p>
        </p:txBody>
      </p:sp>
      <p:sp>
        <p:nvSpPr>
          <p:cNvPr id="8" name="Rectangle 7"/>
          <p:cNvSpPr/>
          <p:nvPr/>
        </p:nvSpPr>
        <p:spPr>
          <a:xfrm>
            <a:off x="2454304" y="256669"/>
            <a:ext cx="1407758" cy="584775"/>
          </a:xfrm>
          <a:prstGeom prst="rect">
            <a:avLst/>
          </a:prstGeom>
          <a:noFill/>
        </p:spPr>
        <p:txBody>
          <a:bodyPr wrap="none" lIns="91440" tIns="45720" rIns="91440" bIns="45720">
            <a:spAutoFit/>
          </a:bodyPr>
          <a:lstStyle/>
          <a:p>
            <a:pPr algn="ctr"/>
            <a:r>
              <a:rPr lang="en-US" sz="32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Monotype Corsiva" panose="03010101010201010101" pitchFamily="66" charset="0"/>
                <a:cs typeface="Times New Roman" pitchFamily="18" charset="0"/>
              </a:rPr>
              <a:t>Agenda</a:t>
            </a:r>
            <a:r>
              <a:rPr lang="en-US" sz="28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Times New Roman" pitchFamily="18" charset="0"/>
                <a:cs typeface="Times New Roman" pitchFamily="18" charset="0"/>
              </a:rPr>
              <a:t>:</a:t>
            </a:r>
          </a:p>
        </p:txBody>
      </p:sp>
      <p:sp>
        <p:nvSpPr>
          <p:cNvPr id="9" name="TextBox 8"/>
          <p:cNvSpPr txBox="1"/>
          <p:nvPr/>
        </p:nvSpPr>
        <p:spPr>
          <a:xfrm>
            <a:off x="2454305" y="841444"/>
            <a:ext cx="4678016" cy="5547929"/>
          </a:xfrm>
          <a:prstGeom prst="rect">
            <a:avLst/>
          </a:prstGeom>
          <a:noFill/>
        </p:spPr>
        <p:txBody>
          <a:bodyPr wrap="square" rtlCol="0">
            <a:spAutoFit/>
          </a:bodyPr>
          <a:lstStyle/>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Introduction</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Motivation</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Literature Survey</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Problem Statement</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Objectives</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Methodology </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Results and Discussion</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Conclusion</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Future Scope</a:t>
            </a:r>
          </a:p>
          <a:p>
            <a:pPr marL="342900" indent="-342900">
              <a:lnSpc>
                <a:spcPct val="200000"/>
              </a:lnSpc>
              <a:buFont typeface="Wingdings" panose="05000000000000000000" pitchFamily="2" charset="2"/>
              <a:buChar char="v"/>
            </a:pPr>
            <a:r>
              <a:rPr lang="en-US" b="1" dirty="0">
                <a:latin typeface="Times New Roman" pitchFamily="18" charset="0"/>
                <a:cs typeface="Times New Roman" pitchFamily="18" charset="0"/>
              </a:rPr>
              <a:t>References</a:t>
            </a:r>
          </a:p>
        </p:txBody>
      </p:sp>
      <p:sp>
        <p:nvSpPr>
          <p:cNvPr id="6" name="Footer Placeholder 4">
            <a:extLst>
              <a:ext uri="{FF2B5EF4-FFF2-40B4-BE49-F238E27FC236}">
                <a16:creationId xmlns:a16="http://schemas.microsoft.com/office/drawing/2014/main" id="{39B47AE5-F707-6AF2-DBF8-2279FA2997BF}"/>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7" name="Date Placeholder 6"/>
          <p:cNvSpPr>
            <a:spLocks noGrp="1"/>
          </p:cNvSpPr>
          <p:nvPr>
            <p:ph type="dt" sz="half" idx="10"/>
          </p:nvPr>
        </p:nvSpPr>
        <p:spPr>
          <a:xfrm>
            <a:off x="9660467" y="6304380"/>
            <a:ext cx="1143000" cy="365125"/>
          </a:xfrm>
        </p:spPr>
        <p:txBody>
          <a:bodyPr/>
          <a:lstStyle/>
          <a:p>
            <a:r>
              <a:rPr lang="en-IN" dirty="0"/>
              <a:t>07-02-2025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B109F81D-0403-45BD-80EA-34021CF94582}"/>
              </a:ext>
            </a:extLst>
          </p:cNvPr>
          <p:cNvSpPr>
            <a:spLocks noGrp="1"/>
          </p:cNvSpPr>
          <p:nvPr>
            <p:ph type="body" idx="1"/>
          </p:nvPr>
        </p:nvSpPr>
        <p:spPr>
          <a:xfrm>
            <a:off x="1847570" y="1049430"/>
            <a:ext cx="9421065" cy="5439860"/>
          </a:xfrm>
        </p:spPr>
        <p:txBody>
          <a:bodyPr>
            <a:noAutofit/>
          </a:bodyPr>
          <a:lstStyle/>
          <a:p>
            <a:pPr marL="342900" indent="-34290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t>
            </a:r>
            <a:r>
              <a:rPr lang="en-US" dirty="0">
                <a:effectLst/>
                <a:latin typeface="Times New Roman" panose="02020603050405020304" pitchFamily="18" charset="0"/>
                <a:ea typeface="Times New Roman" panose="02020603050405020304" pitchFamily="18" charset="0"/>
              </a:rPr>
              <a:t>Fast Fourier Transform (FFT) is a widely used algorithm in digital signal processing (DSP) to compute the Discrete Fourier Transform (DFT) of a sequence.</a:t>
            </a:r>
          </a:p>
          <a:p>
            <a:pPr marL="342900" indent="-342900" algn="just">
              <a:lnSpc>
                <a:spcPct val="150000"/>
              </a:lnSpc>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rPr>
              <a:t>One challenge in designing FFT processors is ensuring flexibility for variable input lengths. Traditional FFT processors are often optimized for a fixed input size, but real-world applications frequently require processing signals of varying lengths.</a:t>
            </a:r>
            <a:endParaRPr lang="en-US" dirty="0">
              <a:latin typeface="Times New Roman" panose="02020603050405020304" pitchFamily="18" charset="0"/>
              <a:ea typeface="Times New Roman" panose="02020603050405020304" pitchFamily="18" charset="0"/>
            </a:endParaRPr>
          </a:p>
          <a:p>
            <a:pPr marL="342900" indent="-342900" algn="just">
              <a:lnSpc>
                <a:spcPct val="150000"/>
              </a:lnSpc>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rPr>
              <a:t>This project focused on designing an efficient FFT processor that supports variable input lengths, which would provide greater flexibility and resource optimization in DSP systems.  </a:t>
            </a:r>
            <a:r>
              <a:rPr lang="en-US" dirty="0">
                <a:latin typeface="Times New Roman" panose="02020603050405020304" pitchFamily="18" charset="0"/>
                <a:cs typeface="Times New Roman" panose="02020603050405020304" pitchFamily="18" charset="0"/>
              </a:rPr>
              <a:t>																				</a:t>
            </a:r>
          </a:p>
        </p:txBody>
      </p:sp>
      <p:sp>
        <p:nvSpPr>
          <p:cNvPr id="9" name="Rectangle 8"/>
          <p:cNvSpPr/>
          <p:nvPr/>
        </p:nvSpPr>
        <p:spPr>
          <a:xfrm>
            <a:off x="1952145" y="295837"/>
            <a:ext cx="2079081" cy="584775"/>
          </a:xfrm>
          <a:prstGeom prst="rect">
            <a:avLst/>
          </a:prstGeom>
          <a:noFill/>
        </p:spPr>
        <p:txBody>
          <a:bodyPr wrap="square" lIns="91440" tIns="45720" rIns="91440" bIns="45720">
            <a:spAutoFit/>
          </a:bodyPr>
          <a:lstStyle/>
          <a:p>
            <a:pPr algn="ctr"/>
            <a:r>
              <a:rPr lang="en-US" sz="32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Introduction</a:t>
            </a:r>
          </a:p>
        </p:txBody>
      </p:sp>
      <p:sp>
        <p:nvSpPr>
          <p:cNvPr id="5" name="Slide Number Placeholder 4">
            <a:extLst>
              <a:ext uri="{FF2B5EF4-FFF2-40B4-BE49-F238E27FC236}">
                <a16:creationId xmlns:a16="http://schemas.microsoft.com/office/drawing/2014/main" id="{B236409E-1BAD-EA47-1B82-C69F0238B5A4}"/>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2</a:t>
            </a:r>
          </a:p>
        </p:txBody>
      </p:sp>
      <p:sp>
        <p:nvSpPr>
          <p:cNvPr id="6" name="Footer Placeholder 4">
            <a:extLst>
              <a:ext uri="{FF2B5EF4-FFF2-40B4-BE49-F238E27FC236}">
                <a16:creationId xmlns:a16="http://schemas.microsoft.com/office/drawing/2014/main" id="{96215CD9-E489-A273-DFB3-C479DBDA6ADC}"/>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7" name="Date Placeholder 6"/>
          <p:cNvSpPr>
            <a:spLocks noGrp="1"/>
          </p:cNvSpPr>
          <p:nvPr>
            <p:ph type="dt" sz="half" idx="10"/>
          </p:nvPr>
        </p:nvSpPr>
        <p:spPr/>
        <p:txBody>
          <a:bodyPr/>
          <a:lstStyle/>
          <a:p>
            <a:r>
              <a:rPr lang="en-IN" dirty="0"/>
              <a:t>19-09-2024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584503-FFAD-47E9-AEDF-94E63F343783}"/>
              </a:ext>
            </a:extLst>
          </p:cNvPr>
          <p:cNvSpPr>
            <a:spLocks noGrp="1"/>
          </p:cNvSpPr>
          <p:nvPr>
            <p:ph type="body" idx="1"/>
          </p:nvPr>
        </p:nvSpPr>
        <p:spPr>
          <a:xfrm>
            <a:off x="2156400" y="1066800"/>
            <a:ext cx="9246706" cy="3465455"/>
          </a:xfrm>
        </p:spPr>
        <p:txBody>
          <a:bodyPr>
            <a:noAutofit/>
          </a:bodyPr>
          <a:lstStyle/>
          <a:p>
            <a:pPr marL="342900" indent="-342900" algn="just">
              <a:lnSpc>
                <a:spcPct val="150000"/>
              </a:lnSpc>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The motivation for this project arises from the growing need for adaptable digital signal processing systems that can handle variable data sizes in real-time. </a:t>
            </a:r>
          </a:p>
          <a:p>
            <a:pPr marL="342900" indent="-342900" algn="just">
              <a:lnSpc>
                <a:spcPct val="150000"/>
              </a:lnSpc>
              <a:buFont typeface="Arial" panose="020B0604020202020204" pitchFamily="34" charset="0"/>
              <a:buChar char="•"/>
            </a:pPr>
            <a:r>
              <a:rPr lang="en-US" dirty="0">
                <a:effectLst/>
                <a:latin typeface="Times New Roman" panose="02020603050405020304" pitchFamily="18" charset="0"/>
                <a:ea typeface="Times New Roman" panose="02020603050405020304" pitchFamily="18" charset="0"/>
                <a:cs typeface="Times New Roman" panose="02020603050405020304" pitchFamily="18" charset="0"/>
              </a:rPr>
              <a:t>A processor that supports variable input lengths without significant degradation in performance or efficiency would significantly improve system adaptability and power efficiency. </a:t>
            </a:r>
          </a:p>
          <a:p>
            <a:pPr marL="342900" indent="-342900" algn="just">
              <a:lnSpc>
                <a:spcPct val="150000"/>
              </a:lnSpc>
              <a:buFont typeface="Arial" panose="020B0604020202020204" pitchFamily="34" charset="0"/>
              <a:buChar char="•"/>
            </a:pPr>
            <a:r>
              <a:rPr lang="en-IN" dirty="0">
                <a:effectLst/>
                <a:latin typeface="Times New Roman" panose="02020603050405020304" pitchFamily="18" charset="0"/>
                <a:ea typeface="Times New Roman" panose="02020603050405020304" pitchFamily="18" charset="0"/>
                <a:cs typeface="Times New Roman" panose="02020603050405020304" pitchFamily="18" charset="0"/>
              </a:rPr>
              <a:t>This project aims to close this gap by developing a processor that can dynamically adapt to different input sizes while maintaining optimal performance in terms of power, area, and processing time.</a:t>
            </a:r>
          </a:p>
          <a:p>
            <a:pPr marL="342900" indent="-342900" algn="just">
              <a:lnSpc>
                <a:spcPct val="150000"/>
              </a:lnSpc>
              <a:buFont typeface="Arial" panose="020B0604020202020204" pitchFamily="34" charset="0"/>
              <a:buChar char="•"/>
            </a:pPr>
            <a:endParaRPr lang="en-IN" dirty="0">
              <a:latin typeface="Times New Roman" panose="02020603050405020304" pitchFamily="18" charset="0"/>
              <a:cs typeface="Times New Roman" pitchFamily="18" charset="0"/>
            </a:endParaRPr>
          </a:p>
        </p:txBody>
      </p:sp>
      <p:sp>
        <p:nvSpPr>
          <p:cNvPr id="9" name="Rectangle 8">
            <a:extLst>
              <a:ext uri="{FF2B5EF4-FFF2-40B4-BE49-F238E27FC236}">
                <a16:creationId xmlns:a16="http://schemas.microsoft.com/office/drawing/2014/main" id="{2BD51828-FA88-4554-94F3-E93C226DE9CD}"/>
              </a:ext>
            </a:extLst>
          </p:cNvPr>
          <p:cNvSpPr/>
          <p:nvPr/>
        </p:nvSpPr>
        <p:spPr>
          <a:xfrm>
            <a:off x="2156400" y="289046"/>
            <a:ext cx="1864614" cy="584775"/>
          </a:xfrm>
          <a:prstGeom prst="rect">
            <a:avLst/>
          </a:prstGeom>
          <a:noFill/>
        </p:spPr>
        <p:txBody>
          <a:bodyPr wrap="none" lIns="91440" tIns="45720" rIns="91440" bIns="45720">
            <a:spAutoFit/>
          </a:bodyPr>
          <a:lstStyle/>
          <a:p>
            <a:pPr algn="ctr"/>
            <a:r>
              <a:rPr lang="en-US" sz="32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Motivation</a:t>
            </a:r>
          </a:p>
        </p:txBody>
      </p:sp>
      <p:sp>
        <p:nvSpPr>
          <p:cNvPr id="5" name="Slide Number Placeholder 4">
            <a:extLst>
              <a:ext uri="{FF2B5EF4-FFF2-40B4-BE49-F238E27FC236}">
                <a16:creationId xmlns:a16="http://schemas.microsoft.com/office/drawing/2014/main" id="{CD64A715-E147-EECF-C913-7588D06F6BB9}"/>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3</a:t>
            </a:r>
          </a:p>
        </p:txBody>
      </p:sp>
      <p:sp>
        <p:nvSpPr>
          <p:cNvPr id="7" name="Footer Placeholder 4">
            <a:extLst>
              <a:ext uri="{FF2B5EF4-FFF2-40B4-BE49-F238E27FC236}">
                <a16:creationId xmlns:a16="http://schemas.microsoft.com/office/drawing/2014/main" id="{782BAE31-EEBA-F991-9F83-ABB22CEEF168}"/>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6" name="Date Placeholder 5"/>
          <p:cNvSpPr>
            <a:spLocks noGrp="1"/>
          </p:cNvSpPr>
          <p:nvPr>
            <p:ph type="dt" sz="half" idx="10"/>
          </p:nvPr>
        </p:nvSpPr>
        <p:spPr/>
        <p:txBody>
          <a:bodyPr/>
          <a:lstStyle/>
          <a:p>
            <a:r>
              <a:rPr lang="en-IN" dirty="0"/>
              <a:t>19-09-2024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BCCA56-D75F-4464-A953-5DB259297FE4}"/>
              </a:ext>
            </a:extLst>
          </p:cNvPr>
          <p:cNvSpPr/>
          <p:nvPr/>
        </p:nvSpPr>
        <p:spPr>
          <a:xfrm>
            <a:off x="1916412" y="298878"/>
            <a:ext cx="2751074" cy="584775"/>
          </a:xfrm>
          <a:prstGeom prst="rect">
            <a:avLst/>
          </a:prstGeom>
          <a:noFill/>
        </p:spPr>
        <p:txBody>
          <a:bodyPr wrap="none" lIns="91440" tIns="45720" rIns="91440" bIns="45720">
            <a:spAutoFit/>
          </a:bodyPr>
          <a:lstStyle/>
          <a:p>
            <a:pPr algn="ctr"/>
            <a:r>
              <a:rPr lang="en-US" sz="32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Literature Survey</a:t>
            </a:r>
          </a:p>
        </p:txBody>
      </p:sp>
      <p:graphicFrame>
        <p:nvGraphicFramePr>
          <p:cNvPr id="4" name="Table 3">
            <a:extLst>
              <a:ext uri="{FF2B5EF4-FFF2-40B4-BE49-F238E27FC236}">
                <a16:creationId xmlns:a16="http://schemas.microsoft.com/office/drawing/2014/main" id="{898EBE1C-D690-4101-9EB8-34C1B9B8B2A3}"/>
              </a:ext>
            </a:extLst>
          </p:cNvPr>
          <p:cNvGraphicFramePr>
            <a:graphicFrameLocks noGrp="1"/>
          </p:cNvGraphicFramePr>
          <p:nvPr>
            <p:extLst>
              <p:ext uri="{D42A27DB-BD31-4B8C-83A1-F6EECF244321}">
                <p14:modId xmlns:p14="http://schemas.microsoft.com/office/powerpoint/2010/main" val="202429282"/>
              </p:ext>
            </p:extLst>
          </p:nvPr>
        </p:nvGraphicFramePr>
        <p:xfrm>
          <a:off x="2011737" y="1066800"/>
          <a:ext cx="9310687" cy="4787665"/>
        </p:xfrm>
        <a:graphic>
          <a:graphicData uri="http://schemas.openxmlformats.org/drawingml/2006/table">
            <a:tbl>
              <a:tblPr firstRow="1" firstCol="1" lastRow="1" lastCol="1" bandRow="1" bandCol="1">
                <a:tableStyleId>{5C22544A-7EE6-4342-B048-85BDC9FD1C3A}</a:tableStyleId>
              </a:tblPr>
              <a:tblGrid>
                <a:gridCol w="843983">
                  <a:extLst>
                    <a:ext uri="{9D8B030D-6E8A-4147-A177-3AD203B41FA5}">
                      <a16:colId xmlns:a16="http://schemas.microsoft.com/office/drawing/2014/main" val="1087230395"/>
                    </a:ext>
                  </a:extLst>
                </a:gridCol>
                <a:gridCol w="2043689">
                  <a:extLst>
                    <a:ext uri="{9D8B030D-6E8A-4147-A177-3AD203B41FA5}">
                      <a16:colId xmlns:a16="http://schemas.microsoft.com/office/drawing/2014/main" val="1355465988"/>
                    </a:ext>
                  </a:extLst>
                </a:gridCol>
                <a:gridCol w="2652798">
                  <a:extLst>
                    <a:ext uri="{9D8B030D-6E8A-4147-A177-3AD203B41FA5}">
                      <a16:colId xmlns:a16="http://schemas.microsoft.com/office/drawing/2014/main" val="1190402317"/>
                    </a:ext>
                  </a:extLst>
                </a:gridCol>
                <a:gridCol w="951187">
                  <a:extLst>
                    <a:ext uri="{9D8B030D-6E8A-4147-A177-3AD203B41FA5}">
                      <a16:colId xmlns:a16="http://schemas.microsoft.com/office/drawing/2014/main" val="2053844895"/>
                    </a:ext>
                  </a:extLst>
                </a:gridCol>
                <a:gridCol w="1258178">
                  <a:extLst>
                    <a:ext uri="{9D8B030D-6E8A-4147-A177-3AD203B41FA5}">
                      <a16:colId xmlns:a16="http://schemas.microsoft.com/office/drawing/2014/main" val="1856195743"/>
                    </a:ext>
                  </a:extLst>
                </a:gridCol>
                <a:gridCol w="1560852">
                  <a:extLst>
                    <a:ext uri="{9D8B030D-6E8A-4147-A177-3AD203B41FA5}">
                      <a16:colId xmlns:a16="http://schemas.microsoft.com/office/drawing/2014/main" val="1829112170"/>
                    </a:ext>
                  </a:extLst>
                </a:gridCol>
              </a:tblGrid>
              <a:tr h="753631">
                <a:tc>
                  <a:txBody>
                    <a:bodyPr/>
                    <a:lstStyle/>
                    <a:p>
                      <a:pPr>
                        <a:spcBef>
                          <a:spcPts val="35"/>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1270" marR="109855" algn="ctr">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Sl.NO</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88290" algn="ctr">
                        <a:lnSpc>
                          <a:spcPct val="115000"/>
                        </a:lnSpc>
                        <a:spcBef>
                          <a:spcPts val="545"/>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  Name of the </a:t>
                      </a:r>
                    </a:p>
                    <a:p>
                      <a:pPr marR="288290" algn="ctr">
                        <a:lnSpc>
                          <a:spcPct val="115000"/>
                        </a:lnSpc>
                        <a:spcBef>
                          <a:spcPts val="545"/>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Journal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spcBef>
                          <a:spcPts val="35"/>
                        </a:spcBef>
                      </a:pPr>
                      <a:r>
                        <a:rPr lang="en-US" sz="1400" b="0" dirty="0">
                          <a:solidFill>
                            <a:schemeClr val="tx1"/>
                          </a:solidFill>
                          <a:effectLst/>
                          <a:latin typeface="Times New Roman" panose="02020603050405020304" pitchFamily="18" charset="0"/>
                          <a:cs typeface="Times New Roman" panose="02020603050405020304" pitchFamily="18" charset="0"/>
                        </a:rPr>
                        <a:t> Title</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5560" marR="30480" algn="ctr">
                        <a:lnSpc>
                          <a:spcPct val="115000"/>
                        </a:lnSpc>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Vol. No &amp; Issue.</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33655" marR="30480" algn="ctr">
                        <a:lnSpc>
                          <a:spcPts val="1360"/>
                        </a:lnSpc>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No</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48285" marR="76200" indent="-142240" algn="ctr">
                        <a:lnSpc>
                          <a:spcPct val="115000"/>
                        </a:lnSpc>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Month &amp; Year</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8260" indent="-29210" algn="ctr">
                        <a:lnSpc>
                          <a:spcPts val="1375"/>
                        </a:lnSpc>
                      </a:pPr>
                      <a:r>
                        <a:rPr lang="en-US" sz="1400" b="0" dirty="0">
                          <a:solidFill>
                            <a:schemeClr val="tx1"/>
                          </a:solidFill>
                          <a:effectLst/>
                          <a:latin typeface="Times New Roman" panose="02020603050405020304" pitchFamily="18" charset="0"/>
                          <a:cs typeface="Times New Roman" panose="02020603050405020304" pitchFamily="18" charset="0"/>
                        </a:rPr>
                        <a:t>International/  National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685037345"/>
                  </a:ext>
                </a:extLst>
              </a:tr>
              <a:tr h="537287">
                <a:tc>
                  <a:txBody>
                    <a:bodyPr/>
                    <a:lstStyle/>
                    <a:p>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R="109220" algn="ctr">
                        <a:spcBef>
                          <a:spcPts val="5"/>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1</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lnSpc>
                          <a:spcPct val="115000"/>
                        </a:lnSpc>
                      </a:pPr>
                      <a:r>
                        <a:rPr lang="en-US" sz="1400" b="0" dirty="0">
                          <a:solidFill>
                            <a:schemeClr val="tx1"/>
                          </a:solidFill>
                          <a:effectLst/>
                          <a:latin typeface="Times New Roman" panose="02020603050405020304" pitchFamily="18" charset="0"/>
                          <a:ea typeface="Verdana" panose="020B0604030504040204" pitchFamily="34" charset="0"/>
                          <a:cs typeface="Verdana" panose="020B0604030504040204" pitchFamily="34" charset="0"/>
                        </a:rPr>
                        <a:t>World Scientific Research Journal</a:t>
                      </a:r>
                      <a:endParaRPr lang="en-IN" sz="1400" b="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0" marR="0" marT="0" marB="0" anchor="ctr"/>
                </a:tc>
                <a:tc>
                  <a:txBody>
                    <a:bodyPr/>
                    <a:lstStyle/>
                    <a:p>
                      <a:pPr marR="120650" algn="ctr">
                        <a:spcBef>
                          <a:spcPts val="605"/>
                        </a:spcBef>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Parallel 16‐point FFT Based on Real‐time Spectrum Analysis System and Its FPGA Implementation</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r>
                        <a:rPr lang="en-US" sz="1400" b="0" dirty="0">
                          <a:solidFill>
                            <a:schemeClr val="tx1"/>
                          </a:solidFill>
                          <a:effectLst/>
                          <a:latin typeface="Times New Roman" panose="02020603050405020304" pitchFamily="18" charset="0"/>
                          <a:cs typeface="Times New Roman" panose="02020603050405020304" pitchFamily="18" charset="0"/>
                        </a:rPr>
                        <a:t> </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Volume 8, Issue 3</a:t>
                      </a:r>
                      <a:endParaRPr lang="en-IN" sz="1400" b="0" dirty="0">
                        <a:solidFill>
                          <a:schemeClr val="tx1"/>
                        </a:solidFill>
                        <a:effectLst/>
                        <a:latin typeface="Times New Roman" panose="02020603050405020304" pitchFamily="18" charset="0"/>
                        <a:cs typeface="Times New Roman" panose="02020603050405020304" pitchFamily="18" charset="0"/>
                      </a:endParaRPr>
                    </a:p>
                    <a:p>
                      <a:pPr algn="ctr">
                        <a:lnSpc>
                          <a:spcPts val="1375"/>
                        </a:lnSpc>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spcBef>
                          <a:spcPts val="15"/>
                        </a:spcBef>
                      </a:pPr>
                      <a:endParaRPr lang="en-US" sz="1400" b="0" dirty="0">
                        <a:solidFill>
                          <a:schemeClr val="tx1"/>
                        </a:solidFill>
                        <a:effectLst/>
                        <a:latin typeface="Times New Roman" panose="02020603050405020304" pitchFamily="18" charset="0"/>
                        <a:cs typeface="Times New Roman" panose="02020603050405020304" pitchFamily="18" charset="0"/>
                      </a:endParaRPr>
                    </a:p>
                    <a:p>
                      <a:pPr algn="ctr">
                        <a:spcBef>
                          <a:spcPts val="15"/>
                        </a:spcBef>
                      </a:pPr>
                      <a:r>
                        <a:rPr lang="en-US" sz="1400" b="0" dirty="0">
                          <a:solidFill>
                            <a:schemeClr val="tx1"/>
                          </a:solidFill>
                          <a:effectLst/>
                          <a:latin typeface="Times New Roman" panose="02020603050405020304" pitchFamily="18" charset="0"/>
                          <a:cs typeface="Times New Roman" panose="02020603050405020304" pitchFamily="18" charset="0"/>
                        </a:rPr>
                        <a:t> </a:t>
                      </a:r>
                      <a:r>
                        <a:rPr lang="en-US" sz="1400" b="0" kern="1200" dirty="0">
                          <a:solidFill>
                            <a:schemeClr val="tx1"/>
                          </a:solidFill>
                          <a:effectLst/>
                          <a:latin typeface="Times New Roman" panose="02020603050405020304" pitchFamily="18" charset="0"/>
                          <a:ea typeface="+mn-ea"/>
                          <a:cs typeface="Times New Roman" panose="02020603050405020304" pitchFamily="18" charset="0"/>
                        </a:rPr>
                        <a:t>March-2022</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r>
                        <a:rPr lang="en-US" sz="1400" b="0" dirty="0">
                          <a:solidFill>
                            <a:schemeClr val="tx1"/>
                          </a:solidFill>
                          <a:effectLst/>
                          <a:latin typeface="Times New Roman" panose="02020603050405020304" pitchFamily="18" charset="0"/>
                          <a:cs typeface="Times New Roman" panose="02020603050405020304" pitchFamily="18" charset="0"/>
                        </a:rPr>
                        <a:t> International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839960872"/>
                  </a:ext>
                </a:extLst>
              </a:tr>
              <a:tr h="430268">
                <a:tc gridSpan="6">
                  <a:txBody>
                    <a:bodyPr/>
                    <a:lstStyle/>
                    <a:p>
                      <a:pPr marL="342900" lvl="0" indent="-342900">
                        <a:buFont typeface="+mj-lt"/>
                        <a:buAutoNum type="arabicPeriod"/>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Presents a 16-point FFT architecture for real-time spectrum analysis. Provides a detailed study on chip performance for DSP applications</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230948790"/>
                  </a:ext>
                </a:extLst>
              </a:tr>
              <a:tr h="822990">
                <a:tc>
                  <a:txBody>
                    <a:bodyPr/>
                    <a:lstStyle/>
                    <a:p>
                      <a:pPr>
                        <a:spcBef>
                          <a:spcPts val="5"/>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R="109220" algn="ct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R="109220" algn="ctr"/>
                      <a:r>
                        <a:rPr lang="en-US" sz="1400" b="0" dirty="0">
                          <a:solidFill>
                            <a:schemeClr val="tx1"/>
                          </a:solidFill>
                          <a:effectLst/>
                          <a:latin typeface="Times New Roman" panose="02020603050405020304" pitchFamily="18" charset="0"/>
                          <a:cs typeface="Times New Roman" panose="02020603050405020304" pitchFamily="18" charset="0"/>
                        </a:rPr>
                        <a:t>2</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13995" algn="ct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p>
                      <a:pPr marR="213995" algn="ctr"/>
                      <a:r>
                        <a:rPr lang="en-US" sz="1400" b="0" kern="1200" dirty="0">
                          <a:solidFill>
                            <a:schemeClr val="tx1"/>
                          </a:solidFill>
                          <a:effectLst/>
                          <a:latin typeface="Times New Roman" panose="02020603050405020304" pitchFamily="18" charset="0"/>
                          <a:ea typeface="+mn-ea"/>
                          <a:cs typeface="Times New Roman" panose="02020603050405020304" pitchFamily="18" charset="0"/>
                        </a:rPr>
                        <a:t>International Journal of Electronics</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46990" algn="ctr">
                        <a:lnSpc>
                          <a:spcPts val="1350"/>
                        </a:lnSpc>
                        <a:spcBef>
                          <a:spcPts val="605"/>
                        </a:spcBef>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Hardware Chip Performance Analysis of Different FFT Architecture</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spcBef>
                          <a:spcPts val="5"/>
                        </a:spcBef>
                      </a:pP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spcBef>
                          <a:spcPts val="5"/>
                        </a:spcBef>
                      </a:pPr>
                      <a:endParaRPr lang="en-US" sz="1400" b="0" dirty="0">
                        <a:solidFill>
                          <a:schemeClr val="tx1"/>
                        </a:solidFill>
                        <a:effectLst/>
                        <a:latin typeface="Times New Roman" panose="02020603050405020304" pitchFamily="18" charset="0"/>
                        <a:cs typeface="Times New Roman" panose="02020603050405020304" pitchFamily="18" charset="0"/>
                      </a:endParaRPr>
                    </a:p>
                    <a:p>
                      <a:pPr algn="ctr">
                        <a:spcBef>
                          <a:spcPts val="5"/>
                        </a:spcBef>
                      </a:pPr>
                      <a:r>
                        <a:rPr lang="en-US" sz="1400" b="0" dirty="0">
                          <a:solidFill>
                            <a:schemeClr val="tx1"/>
                          </a:solidFill>
                          <a:effectLst/>
                          <a:latin typeface="Times New Roman" panose="02020603050405020304" pitchFamily="18" charset="0"/>
                          <a:cs typeface="Times New Roman" panose="02020603050405020304" pitchFamily="18" charset="0"/>
                        </a:rPr>
                        <a:t>June- 2022</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r>
                        <a:rPr lang="en-US" sz="1400" b="0" dirty="0">
                          <a:solidFill>
                            <a:schemeClr val="tx1"/>
                          </a:solidFill>
                          <a:effectLst/>
                          <a:latin typeface="Times New Roman" panose="02020603050405020304" pitchFamily="18" charset="0"/>
                          <a:cs typeface="Times New Roman" panose="02020603050405020304" pitchFamily="18" charset="0"/>
                        </a:rPr>
                        <a:t> International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816542306"/>
                  </a:ext>
                </a:extLst>
              </a:tr>
              <a:tr h="430268">
                <a:tc gridSpan="6">
                  <a:txBody>
                    <a:bodyPr/>
                    <a:lstStyle/>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Comparative analysis of different FFT architectures focusing on chip performance.</a:t>
                      </a:r>
                      <a:endParaRPr lang="en-IN" sz="1400" b="0" kern="1200" dirty="0">
                        <a:solidFill>
                          <a:schemeClr val="tx1"/>
                        </a:solidFill>
                        <a:effectLst/>
                        <a:latin typeface="Times New Roman" panose="02020603050405020304" pitchFamily="18" charset="0"/>
                        <a:ea typeface="+mn-ea"/>
                        <a:cs typeface="Times New Roman" panose="02020603050405020304" pitchFamily="18" charset="0"/>
                      </a:endParaRPr>
                    </a:p>
                    <a:p>
                      <a:pPr marL="0" lvl="0" indent="0">
                        <a:buFont typeface="+mj-lt"/>
                        <a:buNone/>
                      </a:pP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204679438"/>
                  </a:ext>
                </a:extLst>
              </a:tr>
              <a:tr h="651782">
                <a:tc>
                  <a:txBody>
                    <a:bodyPr/>
                    <a:lstStyle/>
                    <a:p>
                      <a:pPr>
                        <a:spcBef>
                          <a:spcPts val="50"/>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R="109220" algn="ctr"/>
                      <a:r>
                        <a:rPr lang="en-US" sz="1400" b="0" dirty="0">
                          <a:solidFill>
                            <a:schemeClr val="tx1"/>
                          </a:solidFill>
                          <a:effectLst/>
                          <a:latin typeface="Times New Roman" panose="02020603050405020304" pitchFamily="18" charset="0"/>
                          <a:cs typeface="Times New Roman" panose="02020603050405020304" pitchFamily="18" charset="0"/>
                        </a:rPr>
                        <a:t>3</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67310" marR="49530" algn="ctr">
                        <a:lnSpc>
                          <a:spcPts val="1380"/>
                        </a:lnSpc>
                        <a:spcBef>
                          <a:spcPts val="10"/>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67310" marR="49530" algn="ctr">
                        <a:lnSpc>
                          <a:spcPts val="1380"/>
                        </a:lnSpc>
                        <a:spcBef>
                          <a:spcPts val="10"/>
                        </a:spcBef>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Springer Journal of Signal Processing Systems</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85090" marR="117475" algn="ctr">
                        <a:spcBef>
                          <a:spcPts val="590"/>
                        </a:spcBef>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The Architectural Optimizations of a Low-Complexity and Low-Latency FFT Processor for MIMO-OFDM Communication Systems</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endPar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Vol. 69</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spcBef>
                          <a:spcPts val="50"/>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R="167640" algn="ctr"/>
                      <a:r>
                        <a:rPr lang="en-US" sz="1400" b="0" kern="1200" dirty="0">
                          <a:solidFill>
                            <a:schemeClr val="tx1"/>
                          </a:solidFill>
                          <a:effectLst/>
                          <a:latin typeface="Times New Roman" panose="02020603050405020304" pitchFamily="18" charset="0"/>
                          <a:ea typeface="+mn-ea"/>
                          <a:cs typeface="Times New Roman" panose="02020603050405020304" pitchFamily="18" charset="0"/>
                        </a:rPr>
                        <a:t>May-2020</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60985" algn="ctr">
                        <a:spcBef>
                          <a:spcPts val="1150"/>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International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279895926"/>
                  </a:ext>
                </a:extLst>
              </a:tr>
              <a:tr h="430268">
                <a:tc gridSpan="6">
                  <a:txBody>
                    <a:bodyPr/>
                    <a:lstStyle/>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Optimizes resource usage in FPGA and ASIC-based designs.</a:t>
                      </a:r>
                      <a:endParaRPr lang="en-IN"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48900936"/>
                  </a:ext>
                </a:extLst>
              </a:tr>
            </a:tbl>
          </a:graphicData>
        </a:graphic>
      </p:graphicFrame>
      <p:sp>
        <p:nvSpPr>
          <p:cNvPr id="5" name="Slide Number Placeholder 4">
            <a:extLst>
              <a:ext uri="{FF2B5EF4-FFF2-40B4-BE49-F238E27FC236}">
                <a16:creationId xmlns:a16="http://schemas.microsoft.com/office/drawing/2014/main" id="{E8AD9AF9-D571-8B5F-8E1B-E0E13CB4E9CF}"/>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4</a:t>
            </a:r>
          </a:p>
        </p:txBody>
      </p:sp>
      <p:sp>
        <p:nvSpPr>
          <p:cNvPr id="7" name="Footer Placeholder 4">
            <a:extLst>
              <a:ext uri="{FF2B5EF4-FFF2-40B4-BE49-F238E27FC236}">
                <a16:creationId xmlns:a16="http://schemas.microsoft.com/office/drawing/2014/main" id="{B4C7E169-E99F-DEAD-8B33-8D5363F4910A}"/>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6" name="Date Placeholder 5"/>
          <p:cNvSpPr>
            <a:spLocks noGrp="1"/>
          </p:cNvSpPr>
          <p:nvPr>
            <p:ph type="dt" sz="half" idx="10"/>
          </p:nvPr>
        </p:nvSpPr>
        <p:spPr/>
        <p:txBody>
          <a:bodyPr/>
          <a:lstStyle/>
          <a:p>
            <a:r>
              <a:rPr lang="en-IN" dirty="0"/>
              <a:t>19-09-2024</a:t>
            </a:r>
          </a:p>
        </p:txBody>
      </p:sp>
    </p:spTree>
    <p:extLst>
      <p:ext uri="{BB962C8B-B14F-4D97-AF65-F5344CB8AC3E}">
        <p14:creationId xmlns:p14="http://schemas.microsoft.com/office/powerpoint/2010/main" val="8742925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4BCCA56-D75F-4464-A953-5DB259297FE4}"/>
              </a:ext>
            </a:extLst>
          </p:cNvPr>
          <p:cNvSpPr/>
          <p:nvPr/>
        </p:nvSpPr>
        <p:spPr>
          <a:xfrm>
            <a:off x="1999130" y="239032"/>
            <a:ext cx="2751074" cy="584775"/>
          </a:xfrm>
          <a:prstGeom prst="rect">
            <a:avLst/>
          </a:prstGeom>
          <a:noFill/>
        </p:spPr>
        <p:txBody>
          <a:bodyPr wrap="none" lIns="91440" tIns="45720" rIns="91440" bIns="45720">
            <a:spAutoFit/>
          </a:bodyPr>
          <a:lstStyle/>
          <a:p>
            <a:pPr algn="ctr"/>
            <a:r>
              <a:rPr lang="en-US" sz="32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Literature Survey</a:t>
            </a:r>
          </a:p>
        </p:txBody>
      </p:sp>
      <p:graphicFrame>
        <p:nvGraphicFramePr>
          <p:cNvPr id="3" name="Table 2">
            <a:extLst>
              <a:ext uri="{FF2B5EF4-FFF2-40B4-BE49-F238E27FC236}">
                <a16:creationId xmlns:a16="http://schemas.microsoft.com/office/drawing/2014/main" id="{8914DFD9-B085-443B-94D3-51E0C76AF09C}"/>
              </a:ext>
            </a:extLst>
          </p:cNvPr>
          <p:cNvGraphicFramePr>
            <a:graphicFrameLocks noGrp="1"/>
          </p:cNvGraphicFramePr>
          <p:nvPr>
            <p:extLst>
              <p:ext uri="{D42A27DB-BD31-4B8C-83A1-F6EECF244321}">
                <p14:modId xmlns:p14="http://schemas.microsoft.com/office/powerpoint/2010/main" val="1043933631"/>
              </p:ext>
            </p:extLst>
          </p:nvPr>
        </p:nvGraphicFramePr>
        <p:xfrm>
          <a:off x="1999130" y="938365"/>
          <a:ext cx="9377082" cy="4332420"/>
        </p:xfrm>
        <a:graphic>
          <a:graphicData uri="http://schemas.openxmlformats.org/drawingml/2006/table">
            <a:tbl>
              <a:tblPr firstRow="1" firstCol="1" lastRow="1" lastCol="1" bandRow="1" bandCol="1">
                <a:tableStyleId>{5C22544A-7EE6-4342-B048-85BDC9FD1C3A}</a:tableStyleId>
              </a:tblPr>
              <a:tblGrid>
                <a:gridCol w="855956">
                  <a:extLst>
                    <a:ext uri="{9D8B030D-6E8A-4147-A177-3AD203B41FA5}">
                      <a16:colId xmlns:a16="http://schemas.microsoft.com/office/drawing/2014/main" val="840512703"/>
                    </a:ext>
                  </a:extLst>
                </a:gridCol>
                <a:gridCol w="2072678">
                  <a:extLst>
                    <a:ext uri="{9D8B030D-6E8A-4147-A177-3AD203B41FA5}">
                      <a16:colId xmlns:a16="http://schemas.microsoft.com/office/drawing/2014/main" val="226542604"/>
                    </a:ext>
                  </a:extLst>
                </a:gridCol>
                <a:gridCol w="2690428">
                  <a:extLst>
                    <a:ext uri="{9D8B030D-6E8A-4147-A177-3AD203B41FA5}">
                      <a16:colId xmlns:a16="http://schemas.microsoft.com/office/drawing/2014/main" val="2450716209"/>
                    </a:ext>
                  </a:extLst>
                </a:gridCol>
                <a:gridCol w="964681">
                  <a:extLst>
                    <a:ext uri="{9D8B030D-6E8A-4147-A177-3AD203B41FA5}">
                      <a16:colId xmlns:a16="http://schemas.microsoft.com/office/drawing/2014/main" val="1588794331"/>
                    </a:ext>
                  </a:extLst>
                </a:gridCol>
                <a:gridCol w="1276027">
                  <a:extLst>
                    <a:ext uri="{9D8B030D-6E8A-4147-A177-3AD203B41FA5}">
                      <a16:colId xmlns:a16="http://schemas.microsoft.com/office/drawing/2014/main" val="662708039"/>
                    </a:ext>
                  </a:extLst>
                </a:gridCol>
                <a:gridCol w="1517312">
                  <a:extLst>
                    <a:ext uri="{9D8B030D-6E8A-4147-A177-3AD203B41FA5}">
                      <a16:colId xmlns:a16="http://schemas.microsoft.com/office/drawing/2014/main" val="1911571632"/>
                    </a:ext>
                  </a:extLst>
                </a:gridCol>
              </a:tblGrid>
              <a:tr h="764929">
                <a:tc>
                  <a:txBody>
                    <a:bodyPr/>
                    <a:lstStyle/>
                    <a:p>
                      <a:pPr>
                        <a:spcBef>
                          <a:spcPts val="35"/>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1270" marR="109855" algn="ctr">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Sl.NO</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88290" algn="ctr">
                        <a:lnSpc>
                          <a:spcPct val="115000"/>
                        </a:lnSpc>
                        <a:spcBef>
                          <a:spcPts val="545"/>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  Name of the     Journal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spcBef>
                          <a:spcPts val="35"/>
                        </a:spcBef>
                      </a:pPr>
                      <a:r>
                        <a:rPr lang="en-US" sz="1400" b="0" dirty="0">
                          <a:solidFill>
                            <a:schemeClr val="tx1"/>
                          </a:solidFill>
                          <a:effectLst/>
                          <a:latin typeface="Times New Roman" panose="02020603050405020304" pitchFamily="18" charset="0"/>
                          <a:cs typeface="Times New Roman" panose="02020603050405020304" pitchFamily="18" charset="0"/>
                        </a:rPr>
                        <a:t> Title</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5560" marR="30480" algn="ctr">
                        <a:lnSpc>
                          <a:spcPct val="115000"/>
                        </a:lnSpc>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Vol. No &amp; Issue.</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33655" marR="30480" algn="ctr">
                        <a:lnSpc>
                          <a:spcPts val="1360"/>
                        </a:lnSpc>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No</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48285" marR="76200" indent="-142240" algn="ctr">
                        <a:lnSpc>
                          <a:spcPct val="115000"/>
                        </a:lnSpc>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Month &amp; Year</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8260" indent="-29210" algn="ctr">
                        <a:lnSpc>
                          <a:spcPts val="1375"/>
                        </a:lnSpc>
                      </a:pPr>
                      <a:r>
                        <a:rPr lang="en-US" sz="1400" b="0" dirty="0">
                          <a:solidFill>
                            <a:schemeClr val="tx1"/>
                          </a:solidFill>
                          <a:effectLst/>
                          <a:latin typeface="Times New Roman" panose="02020603050405020304" pitchFamily="18" charset="0"/>
                          <a:cs typeface="Times New Roman" panose="02020603050405020304" pitchFamily="18" charset="0"/>
                        </a:rPr>
                        <a:t>International/ National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285760696"/>
                  </a:ext>
                </a:extLst>
              </a:tr>
              <a:tr h="944899">
                <a:tc>
                  <a:txBody>
                    <a:bodyPr/>
                    <a:lstStyle/>
                    <a:p>
                      <a:pPr>
                        <a:spcBef>
                          <a:spcPts val="45"/>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R="109220" algn="ctr"/>
                      <a:r>
                        <a:rPr lang="en-US" sz="1400" b="0" dirty="0">
                          <a:solidFill>
                            <a:schemeClr val="tx1"/>
                          </a:solidFill>
                          <a:effectLst/>
                          <a:latin typeface="Times New Roman" panose="02020603050405020304" pitchFamily="18" charset="0"/>
                          <a:cs typeface="Times New Roman" panose="02020603050405020304" pitchFamily="18" charset="0"/>
                        </a:rPr>
                        <a:t>4</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8260" marR="31750" indent="635" algn="ctr">
                        <a:spcAft>
                          <a:spcPts val="0"/>
                        </a:spcAft>
                      </a:pP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p>
                      <a:pPr marL="48260" marR="31750" indent="635" algn="ctr">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Journal of Signal Processing Systems</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R="256540" algn="ctr">
                        <a:spcBef>
                          <a:spcPts val="590"/>
                        </a:spcBef>
                        <a:spcAft>
                          <a:spcPts val="0"/>
                        </a:spcAft>
                      </a:pP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p>
                      <a:pPr marR="256540" algn="ctr">
                        <a:spcBef>
                          <a:spcPts val="590"/>
                        </a:spcBef>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Optimised Floating Point FFT Core for Improved OMP CS System</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r>
                        <a:rPr lang="en-US" sz="1400" b="0" dirty="0">
                          <a:solidFill>
                            <a:schemeClr val="tx1"/>
                          </a:solidFill>
                          <a:effectLst/>
                          <a:latin typeface="Times New Roman" panose="02020603050405020304" pitchFamily="18" charset="0"/>
                          <a:cs typeface="Times New Roman" panose="02020603050405020304" pitchFamily="18" charset="0"/>
                        </a:rPr>
                        <a:t> </a:t>
                      </a:r>
                    </a:p>
                    <a:p>
                      <a:pPr algn="ct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endParaRPr lang="en-US" sz="1400" b="0" dirty="0">
                        <a:solidFill>
                          <a:schemeClr val="tx1"/>
                        </a:solidFill>
                        <a:effectLst/>
                        <a:latin typeface="Times New Roman" panose="02020603050405020304" pitchFamily="18" charset="0"/>
                        <a:cs typeface="Times New Roman" panose="02020603050405020304" pitchFamily="18" charset="0"/>
                      </a:endParaRPr>
                    </a:p>
                    <a:p>
                      <a:pPr algn="ctr"/>
                      <a:r>
                        <a:rPr lang="en-US" sz="1400" b="0" dirty="0">
                          <a:solidFill>
                            <a:schemeClr val="tx1"/>
                          </a:solidFill>
                          <a:effectLst/>
                          <a:latin typeface="Times New Roman" panose="02020603050405020304" pitchFamily="18" charset="0"/>
                          <a:cs typeface="Times New Roman" panose="02020603050405020304" pitchFamily="18" charset="0"/>
                        </a:rPr>
                        <a:t> 2020</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spcBef>
                          <a:spcPts val="45"/>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74295" marR="260985" algn="ctr">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International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892980243"/>
                  </a:ext>
                </a:extLst>
              </a:tr>
              <a:tr h="372907">
                <a:tc gridSpan="6">
                  <a:txBody>
                    <a:bodyPr/>
                    <a:lstStyle/>
                    <a:p>
                      <a:pPr marL="342900" lvl="0" indent="-342900">
                        <a:spcBef>
                          <a:spcPts val="45"/>
                        </a:spcBef>
                        <a:spcAft>
                          <a:spcPts val="0"/>
                        </a:spcAft>
                        <a:buFont typeface="+mj-lt"/>
                        <a:buAutoNum type="arabicPeriod"/>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Proposes an optimized floating-point FFT core to enhance performance in OMP compressed sensing systems.</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012736011"/>
                  </a:ext>
                </a:extLst>
              </a:tr>
              <a:tr h="622213">
                <a:tc>
                  <a:txBody>
                    <a:bodyPr/>
                    <a:lstStyle/>
                    <a:p>
                      <a:pPr>
                        <a:spcBef>
                          <a:spcPts val="50"/>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R="109220" algn="ctr"/>
                      <a:r>
                        <a:rPr lang="en-US" sz="1400" b="0" dirty="0">
                          <a:solidFill>
                            <a:schemeClr val="tx1"/>
                          </a:solidFill>
                          <a:effectLst/>
                          <a:latin typeface="Times New Roman" panose="02020603050405020304" pitchFamily="18" charset="0"/>
                          <a:cs typeface="Times New Roman" panose="02020603050405020304" pitchFamily="18" charset="0"/>
                        </a:rPr>
                        <a:t>5</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57200">
                        <a:lnSpc>
                          <a:spcPct val="115000"/>
                        </a:lnSpc>
                        <a:spcAft>
                          <a:spcPts val="1000"/>
                        </a:spcAft>
                        <a:tabLst>
                          <a:tab pos="387985" algn="l"/>
                        </a:tabLst>
                      </a:pP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IEEE Transactions on Signal Processing</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59055" marR="90170" indent="-1905" algn="ctr">
                        <a:spcBef>
                          <a:spcPts val="590"/>
                        </a:spcBef>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A Depth-First Iterative Algorithm for the Conjugate Pair Fast Fourier Transform</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spcBef>
                          <a:spcPts val="50"/>
                        </a:spcBef>
                      </a:pPr>
                      <a:endPar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algn="ctr">
                        <a:spcBef>
                          <a:spcPts val="50"/>
                        </a:spcBef>
                      </a:pPr>
                      <a:r>
                        <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p>
                  </a:txBody>
                  <a:tcPr marL="0" marR="0" marT="0" marB="0"/>
                </a:tc>
                <a:tc>
                  <a:txBody>
                    <a:bodyPr/>
                    <a:lstStyle/>
                    <a:p>
                      <a:pPr algn="ctr">
                        <a:spcBef>
                          <a:spcPts val="50"/>
                        </a:spcBef>
                      </a:pPr>
                      <a:r>
                        <a:rPr lang="en-US" sz="1400" b="0" dirty="0">
                          <a:solidFill>
                            <a:schemeClr val="tx1"/>
                          </a:solidFill>
                          <a:effectLst/>
                          <a:latin typeface="Times New Roman" panose="02020603050405020304" pitchFamily="18" charset="0"/>
                          <a:cs typeface="Times New Roman" panose="02020603050405020304" pitchFamily="18" charset="0"/>
                        </a:rPr>
                        <a:t> </a:t>
                      </a:r>
                    </a:p>
                    <a:p>
                      <a:pPr algn="ctr">
                        <a:spcBef>
                          <a:spcPts val="50"/>
                        </a:spcBef>
                      </a:pPr>
                      <a:r>
                        <a:rPr lang="en-US" sz="1400" b="0" dirty="0">
                          <a:solidFill>
                            <a:schemeClr val="tx1"/>
                          </a:solidFill>
                          <a:effectLst/>
                          <a:latin typeface="Times New Roman" panose="02020603050405020304" pitchFamily="18" charset="0"/>
                          <a:cs typeface="Times New Roman" panose="02020603050405020304" pitchFamily="18" charset="0"/>
                        </a:rPr>
                        <a:t>2021</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spcBef>
                          <a:spcPts val="50"/>
                        </a:spcBef>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74295" marR="260350" algn="ctr">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International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0237843"/>
                  </a:ext>
                </a:extLst>
              </a:tr>
              <a:tr h="372907">
                <a:tc gridSpan="6">
                  <a:txBody>
                    <a:bodyPr/>
                    <a:lstStyle/>
                    <a:p>
                      <a:pPr marL="342900" marR="0" lvl="0" indent="-342900" algn="l" defTabSz="457200" rtl="0" eaLnBrk="1" fontAlgn="auto" latinLnBrk="0" hangingPunct="1">
                        <a:lnSpc>
                          <a:spcPct val="100000"/>
                        </a:lnSpc>
                        <a:spcBef>
                          <a:spcPts val="50"/>
                        </a:spcBef>
                        <a:spcAft>
                          <a:spcPts val="0"/>
                        </a:spcAft>
                        <a:buClrTx/>
                        <a:buSzTx/>
                        <a:buFont typeface="+mj-lt"/>
                        <a:buAutoNum type="arabicPeriod"/>
                        <a:tabLst/>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Proposes a depth-first iterative algorithm for efficient FFT computation of conjugate pairs.</a:t>
                      </a:r>
                      <a:endParaRPr lang="en-IN"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776573242"/>
                  </a:ext>
                </a:extLst>
              </a:tr>
              <a:tr h="770278">
                <a:tc>
                  <a:txBody>
                    <a:bodyPr/>
                    <a:lstStyle/>
                    <a:p>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R="109220" algn="ctr">
                        <a:spcBef>
                          <a:spcPts val="5"/>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6</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37465" marR="21590" indent="635" algn="ctr">
                        <a:spcBef>
                          <a:spcPts val="5"/>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37465" marR="21590" indent="635" algn="ctr">
                        <a:spcBef>
                          <a:spcPts val="5"/>
                        </a:spcBef>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RISC-V International Conference</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91440" marR="124460" indent="2540" algn="ctr">
                        <a:lnSpc>
                          <a:spcPts val="1350"/>
                        </a:lnSpc>
                        <a:spcBef>
                          <a:spcPts val="605"/>
                        </a:spcBef>
                        <a:spcAft>
                          <a:spcPts val="0"/>
                        </a:spcAft>
                      </a:pPr>
                      <a:endParaRPr lang="en-US" sz="1400" b="0" kern="1200" dirty="0">
                        <a:solidFill>
                          <a:schemeClr val="tx1"/>
                        </a:solidFill>
                        <a:effectLst/>
                        <a:latin typeface="Times New Roman" panose="02020603050405020304" pitchFamily="18" charset="0"/>
                        <a:ea typeface="+mn-ea"/>
                        <a:cs typeface="Times New Roman" panose="02020603050405020304" pitchFamily="18" charset="0"/>
                      </a:endParaRPr>
                    </a:p>
                    <a:p>
                      <a:pPr marL="91440" marR="124460" indent="2540" algn="ctr">
                        <a:lnSpc>
                          <a:spcPts val="1350"/>
                        </a:lnSpc>
                        <a:spcBef>
                          <a:spcPts val="605"/>
                        </a:spcBef>
                        <a:spcAft>
                          <a:spcPts val="0"/>
                        </a:spcAft>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Design and Implementation of Arbitrary Point FFT Based on RISC-V SoC</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lgn="ctr"/>
                      <a:r>
                        <a:rPr lang="en-US" sz="1400" b="0" dirty="0">
                          <a:solidFill>
                            <a:schemeClr val="tx1"/>
                          </a:solidFill>
                          <a:effectLst/>
                          <a:latin typeface="Times New Roman" panose="02020603050405020304" pitchFamily="18" charset="0"/>
                          <a:cs typeface="Times New Roman" panose="02020603050405020304" pitchFamily="18" charset="0"/>
                        </a:rPr>
                        <a:t> </a:t>
                      </a:r>
                    </a:p>
                    <a:p>
                      <a:pPr algn="ctr"/>
                      <a:r>
                        <a:rPr lang="en-US"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r>
                        <a:rPr lang="en-US" sz="1400" b="0" dirty="0">
                          <a:solidFill>
                            <a:schemeClr val="tx1"/>
                          </a:solidFill>
                          <a:effectLst/>
                          <a:latin typeface="Times New Roman" panose="02020603050405020304" pitchFamily="18" charset="0"/>
                          <a:cs typeface="Times New Roman" panose="02020603050405020304" pitchFamily="18" charset="0"/>
                        </a:rPr>
                        <a:t> </a:t>
                      </a:r>
                    </a:p>
                    <a:p>
                      <a:r>
                        <a:rPr lang="en-US" sz="1400" b="0" dirty="0">
                          <a:solidFill>
                            <a:schemeClr val="tx1"/>
                          </a:solidFill>
                          <a:effectLst/>
                          <a:latin typeface="Times New Roman" panose="02020603050405020304" pitchFamily="18" charset="0"/>
                          <a:cs typeface="Times New Roman" panose="02020603050405020304" pitchFamily="18" charset="0"/>
                        </a:rPr>
                        <a:t>          2021</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r>
                        <a:rPr lang="en-US" sz="1400" b="0" dirty="0">
                          <a:solidFill>
                            <a:schemeClr val="tx1"/>
                          </a:solidFill>
                          <a:effectLst/>
                          <a:latin typeface="Times New Roman" panose="02020603050405020304" pitchFamily="18" charset="0"/>
                          <a:cs typeface="Times New Roman" panose="02020603050405020304" pitchFamily="18" charset="0"/>
                        </a:rPr>
                        <a:t> </a:t>
                      </a:r>
                      <a:endParaRPr lang="en-IN" sz="1400" b="0" dirty="0">
                        <a:solidFill>
                          <a:schemeClr val="tx1"/>
                        </a:solidFill>
                        <a:effectLst/>
                        <a:latin typeface="Times New Roman" panose="02020603050405020304" pitchFamily="18" charset="0"/>
                        <a:cs typeface="Times New Roman" panose="02020603050405020304" pitchFamily="18" charset="0"/>
                      </a:endParaRPr>
                    </a:p>
                    <a:p>
                      <a:pPr marL="74295" marR="260350" algn="ctr">
                        <a:spcBef>
                          <a:spcPts val="5"/>
                        </a:spcBef>
                        <a:spcAft>
                          <a:spcPts val="0"/>
                        </a:spcAft>
                      </a:pPr>
                      <a:r>
                        <a:rPr lang="en-US" sz="1400" b="0" dirty="0">
                          <a:solidFill>
                            <a:schemeClr val="tx1"/>
                          </a:solidFill>
                          <a:effectLst/>
                          <a:latin typeface="Times New Roman" panose="02020603050405020304" pitchFamily="18" charset="0"/>
                          <a:cs typeface="Times New Roman" panose="02020603050405020304" pitchFamily="18" charset="0"/>
                        </a:rPr>
                        <a:t>International</a:t>
                      </a:r>
                      <a:endParaRPr lang="en-IN" sz="1400" b="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153423526"/>
                  </a:ext>
                </a:extLst>
              </a:tr>
              <a:tr h="372907">
                <a:tc gridSpan="6">
                  <a:txBody>
                    <a:bodyPr/>
                    <a:lstStyle/>
                    <a:p>
                      <a:pPr marL="342900" marR="0" lvl="0" indent="-342900" algn="l" defTabSz="457200" rtl="0" eaLnBrk="1" fontAlgn="auto" latinLnBrk="0" hangingPunct="1">
                        <a:lnSpc>
                          <a:spcPct val="100000"/>
                        </a:lnSpc>
                        <a:spcBef>
                          <a:spcPts val="0"/>
                        </a:spcBef>
                        <a:spcAft>
                          <a:spcPts val="0"/>
                        </a:spcAft>
                        <a:buClrTx/>
                        <a:buSzTx/>
                        <a:buFont typeface="+mj-lt"/>
                        <a:buAutoNum type="arabicPeriod"/>
                        <a:tabLst/>
                        <a:defRPr/>
                      </a:pPr>
                      <a:r>
                        <a:rPr lang="en-US" sz="1400" b="0" kern="1200" dirty="0">
                          <a:solidFill>
                            <a:schemeClr val="tx1"/>
                          </a:solidFill>
                          <a:effectLst/>
                          <a:latin typeface="Times New Roman" panose="02020603050405020304" pitchFamily="18" charset="0"/>
                          <a:ea typeface="+mn-ea"/>
                          <a:cs typeface="Times New Roman" panose="02020603050405020304" pitchFamily="18" charset="0"/>
                        </a:rPr>
                        <a:t>Explores a design methodology for implementing arbitrary-point FFT on RISC-V System-on-Chip (SoC).</a:t>
                      </a:r>
                      <a:endParaRPr lang="en-IN" sz="14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4278954614"/>
                  </a:ext>
                </a:extLst>
              </a:tr>
            </a:tbl>
          </a:graphicData>
        </a:graphic>
      </p:graphicFrame>
      <p:sp>
        <p:nvSpPr>
          <p:cNvPr id="5" name="Slide Number Placeholder 4">
            <a:extLst>
              <a:ext uri="{FF2B5EF4-FFF2-40B4-BE49-F238E27FC236}">
                <a16:creationId xmlns:a16="http://schemas.microsoft.com/office/drawing/2014/main" id="{A5F4CCCA-C7B8-CEC8-2FC0-21A1D2103654}"/>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5</a:t>
            </a:r>
          </a:p>
        </p:txBody>
      </p:sp>
      <p:sp>
        <p:nvSpPr>
          <p:cNvPr id="7" name="Footer Placeholder 4">
            <a:extLst>
              <a:ext uri="{FF2B5EF4-FFF2-40B4-BE49-F238E27FC236}">
                <a16:creationId xmlns:a16="http://schemas.microsoft.com/office/drawing/2014/main" id="{494EE96A-15CC-1303-B872-8816A570D9FA}"/>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6" name="Date Placeholder 5"/>
          <p:cNvSpPr>
            <a:spLocks noGrp="1"/>
          </p:cNvSpPr>
          <p:nvPr>
            <p:ph type="dt" sz="half" idx="10"/>
          </p:nvPr>
        </p:nvSpPr>
        <p:spPr/>
        <p:txBody>
          <a:bodyPr/>
          <a:lstStyle/>
          <a:p>
            <a:r>
              <a:rPr lang="en-IN" dirty="0"/>
              <a:t>19-09-2024</a:t>
            </a:r>
          </a:p>
        </p:txBody>
      </p:sp>
    </p:spTree>
    <p:extLst>
      <p:ext uri="{BB962C8B-B14F-4D97-AF65-F5344CB8AC3E}">
        <p14:creationId xmlns:p14="http://schemas.microsoft.com/office/powerpoint/2010/main" val="2899351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5FB6E4-E9F2-4D5A-8BF2-1EC214F6F048}"/>
              </a:ext>
            </a:extLst>
          </p:cNvPr>
          <p:cNvSpPr/>
          <p:nvPr/>
        </p:nvSpPr>
        <p:spPr>
          <a:xfrm>
            <a:off x="1875807" y="391707"/>
            <a:ext cx="2930610" cy="584775"/>
          </a:xfrm>
          <a:prstGeom prst="rect">
            <a:avLst/>
          </a:prstGeom>
          <a:noFill/>
        </p:spPr>
        <p:txBody>
          <a:bodyPr wrap="none" lIns="91440" tIns="45720" rIns="91440" bIns="45720">
            <a:spAutoFit/>
          </a:bodyPr>
          <a:lstStyle/>
          <a:p>
            <a:pPr algn="ctr"/>
            <a:r>
              <a:rPr lang="en-US" sz="32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Problem Statement</a:t>
            </a:r>
          </a:p>
        </p:txBody>
      </p:sp>
      <p:sp>
        <p:nvSpPr>
          <p:cNvPr id="7" name="TextBox 6">
            <a:extLst>
              <a:ext uri="{FF2B5EF4-FFF2-40B4-BE49-F238E27FC236}">
                <a16:creationId xmlns:a16="http://schemas.microsoft.com/office/drawing/2014/main" id="{AFE5D0B7-2B17-D69C-1A20-51159F1542A7}"/>
              </a:ext>
            </a:extLst>
          </p:cNvPr>
          <p:cNvSpPr txBox="1"/>
          <p:nvPr/>
        </p:nvSpPr>
        <p:spPr>
          <a:xfrm>
            <a:off x="1488142" y="1233631"/>
            <a:ext cx="9576482" cy="2351285"/>
          </a:xfrm>
          <a:prstGeom prst="rect">
            <a:avLst/>
          </a:prstGeom>
          <a:noFill/>
        </p:spPr>
        <p:txBody>
          <a:bodyPr wrap="square">
            <a:spAutoFit/>
          </a:bodyPr>
          <a:lstStyle/>
          <a:p>
            <a:pPr marL="270510" algn="just">
              <a:lnSpc>
                <a:spcPct val="150000"/>
              </a:lnSpc>
              <a:spcAft>
                <a:spcPts val="1000"/>
              </a:spcAft>
            </a:pPr>
            <a:r>
              <a:rPr lang="en-US" sz="2000" dirty="0">
                <a:effectLst/>
                <a:latin typeface="Times New Roman" panose="02020603050405020304" pitchFamily="18" charset="0"/>
                <a:ea typeface="Times New Roman" panose="02020603050405020304" pitchFamily="18" charset="0"/>
                <a:cs typeface="Times New Roman" panose="02020603050405020304" pitchFamily="18" charset="0"/>
              </a:rPr>
              <a:t>The problem addressed in this project is how to design and simulate an FFT processor capable of handling variable input lengths while minimizing computational complexity, power consumption, and hardware resources. The design must adapt to different signal lengths without compromising performance, ensuring high-speed operation and scalability.</a:t>
            </a:r>
            <a:endParaRPr lang="en-IN" sz="2000"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90A00B5F-DD2C-6BE9-C354-EBA1233CFB9F}"/>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6</a:t>
            </a:r>
          </a:p>
        </p:txBody>
      </p:sp>
      <p:sp>
        <p:nvSpPr>
          <p:cNvPr id="6" name="Footer Placeholder 4">
            <a:extLst>
              <a:ext uri="{FF2B5EF4-FFF2-40B4-BE49-F238E27FC236}">
                <a16:creationId xmlns:a16="http://schemas.microsoft.com/office/drawing/2014/main" id="{2676592C-38B7-8F34-EC23-FCE4C8F0D2C3}"/>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8" name="Date Placeholder 7"/>
          <p:cNvSpPr>
            <a:spLocks noGrp="1"/>
          </p:cNvSpPr>
          <p:nvPr>
            <p:ph type="dt" sz="half" idx="10"/>
          </p:nvPr>
        </p:nvSpPr>
        <p:spPr/>
        <p:txBody>
          <a:bodyPr/>
          <a:lstStyle/>
          <a:p>
            <a:r>
              <a:rPr lang="en-IN" dirty="0"/>
              <a:t>19-09-2024</a:t>
            </a:r>
          </a:p>
        </p:txBody>
      </p:sp>
    </p:spTree>
    <p:extLst>
      <p:ext uri="{BB962C8B-B14F-4D97-AF65-F5344CB8AC3E}">
        <p14:creationId xmlns:p14="http://schemas.microsoft.com/office/powerpoint/2010/main" val="35231876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5FB6E4-E9F2-4D5A-8BF2-1EC214F6F048}"/>
              </a:ext>
            </a:extLst>
          </p:cNvPr>
          <p:cNvSpPr/>
          <p:nvPr/>
        </p:nvSpPr>
        <p:spPr>
          <a:xfrm>
            <a:off x="1927123" y="275899"/>
            <a:ext cx="1705840" cy="605689"/>
          </a:xfrm>
          <a:prstGeom prst="rect">
            <a:avLst/>
          </a:prstGeom>
          <a:noFill/>
        </p:spPr>
        <p:txBody>
          <a:bodyPr wrap="square" lIns="91440" tIns="45720" rIns="91440" bIns="45720">
            <a:spAutoFit/>
          </a:bodyPr>
          <a:lstStyle/>
          <a:p>
            <a:pPr algn="ctr"/>
            <a:r>
              <a:rPr lang="en-US" sz="32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Objectives</a:t>
            </a:r>
          </a:p>
        </p:txBody>
      </p:sp>
      <p:sp>
        <p:nvSpPr>
          <p:cNvPr id="8" name="Text Placeholder 2">
            <a:extLst>
              <a:ext uri="{FF2B5EF4-FFF2-40B4-BE49-F238E27FC236}">
                <a16:creationId xmlns:a16="http://schemas.microsoft.com/office/drawing/2014/main" id="{88332010-6C5B-0DB9-BCEC-5339B1CC6079}"/>
              </a:ext>
            </a:extLst>
          </p:cNvPr>
          <p:cNvSpPr txBox="1">
            <a:spLocks/>
          </p:cNvSpPr>
          <p:nvPr/>
        </p:nvSpPr>
        <p:spPr>
          <a:xfrm>
            <a:off x="1927123" y="1133780"/>
            <a:ext cx="9575900" cy="2165232"/>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457200" indent="-457200" algn="just">
              <a:lnSpc>
                <a:spcPct val="150000"/>
              </a:lnSpc>
              <a:buFont typeface="+mj-lt"/>
              <a:buAutoNum type="arabicPeriod"/>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To design an FFT processor capable of handling variable input lengths.</a:t>
            </a:r>
          </a:p>
          <a:p>
            <a:pPr marL="457200" indent="-457200" algn="just">
              <a:lnSpc>
                <a:spcPct val="150000"/>
              </a:lnSpc>
              <a:buFont typeface="+mj-lt"/>
              <a:buAutoNum type="arabicPeriod"/>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To minimize power consumption and computational complexity in the FFT design.</a:t>
            </a:r>
          </a:p>
          <a:p>
            <a:pPr marL="457200" indent="-457200" algn="just">
              <a:lnSpc>
                <a:spcPct val="150000"/>
              </a:lnSpc>
              <a:buFont typeface="+mj-lt"/>
              <a:buAutoNum type="arabicPeriod"/>
            </a:pPr>
            <a:r>
              <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To simulate and validate the FFT processor using modern simulation </a:t>
            </a:r>
            <a:r>
              <a:rPr lang="en-IN" sz="200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tools.</a:t>
            </a:r>
            <a:endParaRPr lang="en-IN" sz="20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457200" indent="-457200" algn="just">
              <a:lnSpc>
                <a:spcPct val="150000"/>
              </a:lnSpc>
              <a:buFont typeface="+mj-lt"/>
              <a:buAutoNum type="arabicPeriod"/>
            </a:pPr>
            <a:endParaRPr lang="en-US" sz="2000" dirty="0">
              <a:solidFill>
                <a:schemeClr val="tx1"/>
              </a:solidFill>
              <a:latin typeface="Times New Roman" panose="02020603050405020304" pitchFamily="18" charset="0"/>
              <a:ea typeface="Gadugi" panose="020B0502040204020203" pitchFamily="34"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6572C0F6-FBEB-D5F3-044E-0605B8052E8D}"/>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7</a:t>
            </a:r>
          </a:p>
        </p:txBody>
      </p:sp>
      <p:sp>
        <p:nvSpPr>
          <p:cNvPr id="6" name="Footer Placeholder 4">
            <a:extLst>
              <a:ext uri="{FF2B5EF4-FFF2-40B4-BE49-F238E27FC236}">
                <a16:creationId xmlns:a16="http://schemas.microsoft.com/office/drawing/2014/main" id="{0AC19B68-1326-B129-C81C-559071664D13}"/>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7" name="Date Placeholder 6"/>
          <p:cNvSpPr>
            <a:spLocks noGrp="1"/>
          </p:cNvSpPr>
          <p:nvPr>
            <p:ph type="dt" sz="half" idx="10"/>
          </p:nvPr>
        </p:nvSpPr>
        <p:spPr/>
        <p:txBody>
          <a:bodyPr/>
          <a:lstStyle/>
          <a:p>
            <a:r>
              <a:rPr lang="en-IN" dirty="0"/>
              <a:t>19-09-2024</a:t>
            </a:r>
          </a:p>
        </p:txBody>
      </p:sp>
    </p:spTree>
    <p:extLst>
      <p:ext uri="{BB962C8B-B14F-4D97-AF65-F5344CB8AC3E}">
        <p14:creationId xmlns:p14="http://schemas.microsoft.com/office/powerpoint/2010/main" val="19667353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85FB6E4-E9F2-4D5A-8BF2-1EC214F6F048}"/>
              </a:ext>
            </a:extLst>
          </p:cNvPr>
          <p:cNvSpPr/>
          <p:nvPr/>
        </p:nvSpPr>
        <p:spPr>
          <a:xfrm>
            <a:off x="2206583" y="305796"/>
            <a:ext cx="2087431" cy="584775"/>
          </a:xfrm>
          <a:prstGeom prst="rect">
            <a:avLst/>
          </a:prstGeom>
          <a:noFill/>
        </p:spPr>
        <p:txBody>
          <a:bodyPr wrap="none" lIns="91440" tIns="45720" rIns="91440" bIns="45720">
            <a:spAutoFit/>
          </a:bodyPr>
          <a:lstStyle/>
          <a:p>
            <a:pPr algn="ctr"/>
            <a:r>
              <a:rPr lang="en-US" sz="32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Methodology</a:t>
            </a:r>
          </a:p>
        </p:txBody>
      </p:sp>
      <p:sp>
        <p:nvSpPr>
          <p:cNvPr id="7" name="TextBox 6">
            <a:extLst>
              <a:ext uri="{FF2B5EF4-FFF2-40B4-BE49-F238E27FC236}">
                <a16:creationId xmlns:a16="http://schemas.microsoft.com/office/drawing/2014/main" id="{BC05BBD0-84F6-44DD-9B19-ED8A2FF0D1DC}"/>
              </a:ext>
            </a:extLst>
          </p:cNvPr>
          <p:cNvSpPr txBox="1"/>
          <p:nvPr/>
        </p:nvSpPr>
        <p:spPr>
          <a:xfrm>
            <a:off x="4158115" y="5919841"/>
            <a:ext cx="4625869" cy="323165"/>
          </a:xfrm>
          <a:prstGeom prst="rect">
            <a:avLst/>
          </a:prstGeom>
          <a:noFill/>
        </p:spPr>
        <p:txBody>
          <a:bodyPr wrap="square">
            <a:spAutoFit/>
          </a:bodyPr>
          <a:lstStyle/>
          <a:p>
            <a:r>
              <a:rPr lang="en-IN" sz="1500" b="1" dirty="0">
                <a:latin typeface="Times New Roman" panose="02020603050405020304" pitchFamily="18" charset="0"/>
                <a:cs typeface="Times New Roman" panose="02020603050405020304" pitchFamily="18" charset="0"/>
              </a:rPr>
              <a:t>Figure 1: </a:t>
            </a:r>
            <a:r>
              <a:rPr lang="en-IN" sz="1500" dirty="0">
                <a:latin typeface="Times New Roman" panose="02020603050405020304" pitchFamily="18" charset="0"/>
                <a:cs typeface="Times New Roman" panose="02020603050405020304" pitchFamily="18" charset="0"/>
              </a:rPr>
              <a:t>Block Diagram for design of FFT processor </a:t>
            </a:r>
          </a:p>
        </p:txBody>
      </p:sp>
      <p:pic>
        <p:nvPicPr>
          <p:cNvPr id="3" name="Picture 2">
            <a:extLst>
              <a:ext uri="{FF2B5EF4-FFF2-40B4-BE49-F238E27FC236}">
                <a16:creationId xmlns:a16="http://schemas.microsoft.com/office/drawing/2014/main" id="{2B0781FD-30B2-9FA9-676B-A6F0218BE005}"/>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294014" y="614995"/>
            <a:ext cx="3517297" cy="4929772"/>
          </a:xfrm>
          <a:prstGeom prst="rect">
            <a:avLst/>
          </a:prstGeom>
        </p:spPr>
      </p:pic>
      <p:sp>
        <p:nvSpPr>
          <p:cNvPr id="8" name="Slide Number Placeholder 4">
            <a:extLst>
              <a:ext uri="{FF2B5EF4-FFF2-40B4-BE49-F238E27FC236}">
                <a16:creationId xmlns:a16="http://schemas.microsoft.com/office/drawing/2014/main" id="{2E7E715B-6696-2BBB-47DE-39FF726A4EE8}"/>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8</a:t>
            </a:r>
          </a:p>
        </p:txBody>
      </p:sp>
      <p:sp>
        <p:nvSpPr>
          <p:cNvPr id="6" name="Footer Placeholder 4">
            <a:extLst>
              <a:ext uri="{FF2B5EF4-FFF2-40B4-BE49-F238E27FC236}">
                <a16:creationId xmlns:a16="http://schemas.microsoft.com/office/drawing/2014/main" id="{B140BCCC-020E-B44F-7E34-E7FA73F7C492}"/>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10" name="Date Placeholder 9"/>
          <p:cNvSpPr>
            <a:spLocks noGrp="1"/>
          </p:cNvSpPr>
          <p:nvPr>
            <p:ph type="dt" sz="half" idx="10"/>
          </p:nvPr>
        </p:nvSpPr>
        <p:spPr/>
        <p:txBody>
          <a:bodyPr/>
          <a:lstStyle/>
          <a:p>
            <a:r>
              <a:rPr lang="en-IN" dirty="0"/>
              <a:t>19-09-2024</a:t>
            </a:r>
          </a:p>
        </p:txBody>
      </p:sp>
    </p:spTree>
    <p:extLst>
      <p:ext uri="{BB962C8B-B14F-4D97-AF65-F5344CB8AC3E}">
        <p14:creationId xmlns:p14="http://schemas.microsoft.com/office/powerpoint/2010/main" val="356682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78567E4-AF55-4814-8950-944B5B1507BA}"/>
              </a:ext>
            </a:extLst>
          </p:cNvPr>
          <p:cNvSpPr>
            <a:spLocks noGrp="1"/>
          </p:cNvSpPr>
          <p:nvPr>
            <p:ph type="body" idx="1"/>
          </p:nvPr>
        </p:nvSpPr>
        <p:spPr>
          <a:xfrm>
            <a:off x="1609165" y="366319"/>
            <a:ext cx="9266491" cy="5770321"/>
          </a:xfrm>
        </p:spPr>
        <p:txBody>
          <a:bodyPr>
            <a:noAutofit/>
          </a:bodyPr>
          <a:lstStyle/>
          <a:p>
            <a:pPr marL="228600" marR="63500" algn="just">
              <a:spcAft>
                <a:spcPts val="0"/>
              </a:spcAft>
            </a:pPr>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pPr marL="228600" marR="63500" algn="just">
              <a:spcAft>
                <a:spcPts val="0"/>
              </a:spcAft>
            </a:pP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571500" marR="63500" indent="-342900" algn="just">
              <a:spcAft>
                <a:spcPts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Chose the radix-2 FFT algorithm for computational efficiency.</a:t>
            </a:r>
          </a:p>
          <a:p>
            <a:pPr marL="571500" marR="63500" indent="-342900" algn="just">
              <a:spcAft>
                <a:spcPts val="0"/>
              </a:spcAft>
              <a:buFont typeface="Arial" panose="020B0604020202020204" pitchFamily="34" charset="0"/>
              <a:buChar char="•"/>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Input Buffer</a:t>
            </a:r>
            <a:endParaRPr lang="en-US" altLang="en-US" dirty="0">
              <a:latin typeface="Times New Roman" panose="02020603050405020304" pitchFamily="18" charset="0"/>
              <a:cs typeface="Times New Roman" panose="02020603050405020304" pitchFamily="18" charset="0"/>
            </a:endParaRPr>
          </a:p>
          <a:p>
            <a:pPr marL="228600" marR="63500" algn="just">
              <a:spcAft>
                <a:spcPts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Stores input samples.</a:t>
            </a:r>
          </a:p>
          <a:p>
            <a:pPr marL="228600" marR="63500" algn="just">
              <a:spcAft>
                <a:spcPts val="0"/>
              </a:spcAft>
            </a:pPr>
            <a:r>
              <a:rPr lang="en-US" altLang="en-US" dirty="0">
                <a:latin typeface="Times New Roman" panose="02020603050405020304" pitchFamily="18" charset="0"/>
                <a:cs typeface="Times New Roman" panose="02020603050405020304" pitchFamily="18" charset="0"/>
              </a:rPr>
              <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Butterfly Units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28600" marR="63500" algn="just">
              <a:spcAft>
                <a:spcPts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Execute FFT operations (additions, subtractions, twiddle factor multiplications).</a:t>
            </a:r>
          </a:p>
          <a:p>
            <a:pPr marL="228600" marR="63500" algn="just">
              <a:spcAft>
                <a:spcPts val="0"/>
              </a:spcAf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Twiddle Factor Generator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28600" marR="63500" algn="just">
              <a:spcAft>
                <a:spcPts val="0"/>
              </a:spcAf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Computes required twiddle factors</a:t>
            </a:r>
          </a:p>
          <a:p>
            <a:pPr marL="571500" marR="63500" indent="-342900" algn="just">
              <a:spcAft>
                <a:spcPts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Write Verilog HDL code for the modular and scalable design.</a:t>
            </a:r>
          </a:p>
          <a:p>
            <a:pPr marL="571500" marR="63500" indent="-342900" algn="just">
              <a:spcAft>
                <a:spcPts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Validate functionality using Cadence simulation tools.</a:t>
            </a:r>
          </a:p>
          <a:p>
            <a:pPr marL="228600" marR="63500" algn="just">
              <a:spcAft>
                <a:spcPts val="0"/>
              </a:spcAft>
            </a:pPr>
            <a:r>
              <a:rPr lang="en-US" b="1" dirty="0">
                <a:latin typeface="Times New Roman" panose="02020603050405020304" pitchFamily="18" charset="0"/>
                <a:cs typeface="Times New Roman" panose="02020603050405020304" pitchFamily="18" charset="0"/>
              </a:rPr>
              <a:t>    Performance Analysis</a:t>
            </a:r>
            <a:r>
              <a:rPr lang="en-US" sz="2000" dirty="0">
                <a:solidFill>
                  <a:schemeClr val="tx1"/>
                </a:solidFill>
                <a:latin typeface="Times New Roman" panose="02020603050405020304" pitchFamily="18" charset="0"/>
                <a:cs typeface="Times New Roman" panose="02020603050405020304" pitchFamily="18" charset="0"/>
              </a:rPr>
              <a:t> </a:t>
            </a:r>
          </a:p>
          <a:p>
            <a:pPr marL="571500" marR="63500" indent="-342900" algn="just">
              <a:spcAft>
                <a:spcPts val="0"/>
              </a:spcAf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Accuracy of FFT outputs. Latency for different input lengths.</a:t>
            </a:r>
          </a:p>
          <a:p>
            <a:pPr marL="228600" marR="63500" algn="just">
              <a:spcAft>
                <a:spcPts val="0"/>
              </a:spcAft>
            </a:pPr>
            <a:r>
              <a:rPr lang="en-US" b="1" dirty="0">
                <a:latin typeface="Times New Roman" panose="02020603050405020304" pitchFamily="18" charset="0"/>
                <a:cs typeface="Times New Roman" panose="02020603050405020304" pitchFamily="18" charset="0"/>
              </a:rPr>
              <a:t>    Result Documentation </a:t>
            </a:r>
          </a:p>
          <a:p>
            <a:pPr marL="571500" marR="63500" indent="-342900" algn="just">
              <a:spcAft>
                <a:spcPts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Record simulation waveforms and performance metrics.</a:t>
            </a:r>
          </a:p>
          <a:p>
            <a:pPr marL="571500" marR="63500" indent="-342900" algn="just">
              <a:spcAft>
                <a:spcPts val="0"/>
              </a:spcAf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Compare results with theoretical values.</a:t>
            </a:r>
          </a:p>
          <a:p>
            <a:pPr marL="571500" marR="63500" indent="-342900" algn="just">
              <a:spcAft>
                <a:spcPts val="0"/>
              </a:spcAft>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lvl="1"/>
            <a:endParaRPr lang="en-US" sz="2000" dirty="0">
              <a:solidFill>
                <a:schemeClr val="tx1"/>
              </a:solidFill>
              <a:latin typeface="Times New Roman" panose="02020603050405020304" pitchFamily="18" charset="0"/>
              <a:cs typeface="Times New Roman" panose="02020603050405020304" pitchFamily="18" charset="0"/>
            </a:endParaRPr>
          </a:p>
          <a:p>
            <a:pPr marL="571500" marR="63500" indent="-342900" algn="just">
              <a:spcAft>
                <a:spcPts val="0"/>
              </a:spcAf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571500" marR="63500" indent="-342900" algn="just">
              <a:spcAft>
                <a:spcPts val="0"/>
              </a:spcAft>
              <a:buFont typeface="Arial" panose="020B0604020202020204" pitchFamily="34" charset="0"/>
              <a:buChar char="•"/>
            </a:pPr>
            <a:endParaRPr lang="en-IN"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85FB6E4-E9F2-4D5A-8BF2-1EC214F6F048}"/>
              </a:ext>
            </a:extLst>
          </p:cNvPr>
          <p:cNvSpPr/>
          <p:nvPr/>
        </p:nvSpPr>
        <p:spPr>
          <a:xfrm>
            <a:off x="1789706" y="366319"/>
            <a:ext cx="2047188" cy="523220"/>
          </a:xfrm>
          <a:prstGeom prst="rect">
            <a:avLst/>
          </a:prstGeom>
          <a:noFill/>
        </p:spPr>
        <p:txBody>
          <a:bodyPr wrap="square" lIns="91440" tIns="45720" rIns="91440" bIns="45720">
            <a:spAutoFit/>
          </a:bodyPr>
          <a:lstStyle/>
          <a:p>
            <a:pPr algn="ctr"/>
            <a:r>
              <a:rPr lang="en-US" sz="28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Methodology</a:t>
            </a:r>
          </a:p>
        </p:txBody>
      </p:sp>
      <p:sp>
        <p:nvSpPr>
          <p:cNvPr id="5" name="Slide Number Placeholder 4">
            <a:extLst>
              <a:ext uri="{FF2B5EF4-FFF2-40B4-BE49-F238E27FC236}">
                <a16:creationId xmlns:a16="http://schemas.microsoft.com/office/drawing/2014/main" id="{F4E47D27-3EE7-D232-628C-0C09BDBFE18D}"/>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9</a:t>
            </a:r>
          </a:p>
        </p:txBody>
      </p:sp>
      <p:sp>
        <p:nvSpPr>
          <p:cNvPr id="6" name="Footer Placeholder 4">
            <a:extLst>
              <a:ext uri="{FF2B5EF4-FFF2-40B4-BE49-F238E27FC236}">
                <a16:creationId xmlns:a16="http://schemas.microsoft.com/office/drawing/2014/main" id="{C604EE9E-9F29-035B-D19D-FE17F5E9BEF3}"/>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7" name="Date Placeholder 6"/>
          <p:cNvSpPr>
            <a:spLocks noGrp="1"/>
          </p:cNvSpPr>
          <p:nvPr>
            <p:ph type="dt" sz="half" idx="10"/>
          </p:nvPr>
        </p:nvSpPr>
        <p:spPr/>
        <p:txBody>
          <a:bodyPr/>
          <a:lstStyle/>
          <a:p>
            <a:r>
              <a:rPr lang="en-IN" dirty="0"/>
              <a:t>19-09-2024</a:t>
            </a:r>
          </a:p>
        </p:txBody>
      </p:sp>
    </p:spTree>
    <p:extLst>
      <p:ext uri="{BB962C8B-B14F-4D97-AF65-F5344CB8AC3E}">
        <p14:creationId xmlns:p14="http://schemas.microsoft.com/office/powerpoint/2010/main" val="3839892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D89840-E2E4-744E-B150-A13551455486}"/>
              </a:ext>
            </a:extLst>
          </p:cNvPr>
          <p:cNvSpPr>
            <a:spLocks noGrp="1"/>
          </p:cNvSpPr>
          <p:nvPr>
            <p:ph type="dt" sz="half" idx="10"/>
          </p:nvPr>
        </p:nvSpPr>
        <p:spPr/>
        <p:txBody>
          <a:bodyPr/>
          <a:lstStyle/>
          <a:p>
            <a:fld id="{11585D03-D6AE-46F0-ACDD-5B733C55973E}" type="datetime1">
              <a:rPr lang="en-IN" smtClean="0"/>
              <a:t>01-02-2025</a:t>
            </a:fld>
            <a:endParaRPr lang="en-IN" dirty="0"/>
          </a:p>
        </p:txBody>
      </p:sp>
      <p:sp>
        <p:nvSpPr>
          <p:cNvPr id="3" name="Footer Placeholder 2">
            <a:extLst>
              <a:ext uri="{FF2B5EF4-FFF2-40B4-BE49-F238E27FC236}">
                <a16:creationId xmlns:a16="http://schemas.microsoft.com/office/drawing/2014/main" id="{00CF1A1C-FCB8-4A72-8F6C-B4DD5128E03F}"/>
              </a:ext>
            </a:extLst>
          </p:cNvPr>
          <p:cNvSpPr>
            <a:spLocks noGrp="1"/>
          </p:cNvSpPr>
          <p:nvPr>
            <p:ph type="ftr" sz="quarter" idx="11"/>
          </p:nvPr>
        </p:nvSpPr>
        <p:spPr/>
        <p:txBody>
          <a:bodyPr/>
          <a:lstStyle/>
          <a:p>
            <a:r>
              <a:rPr lang="en-IN"/>
              <a:t>Dept. of E&amp;CE, PESITM, Shivamogga.</a:t>
            </a:r>
            <a:endParaRPr lang="en-IN" dirty="0"/>
          </a:p>
        </p:txBody>
      </p:sp>
      <p:sp>
        <p:nvSpPr>
          <p:cNvPr id="4" name="Slide Number Placeholder 3">
            <a:extLst>
              <a:ext uri="{FF2B5EF4-FFF2-40B4-BE49-F238E27FC236}">
                <a16:creationId xmlns:a16="http://schemas.microsoft.com/office/drawing/2014/main" id="{3F43B46E-313A-7A1B-907A-38C19F61C521}"/>
              </a:ext>
            </a:extLst>
          </p:cNvPr>
          <p:cNvSpPr>
            <a:spLocks noGrp="1"/>
          </p:cNvSpPr>
          <p:nvPr>
            <p:ph type="sldNum" sz="quarter" idx="12"/>
          </p:nvPr>
        </p:nvSpPr>
        <p:spPr/>
        <p:txBody>
          <a:bodyPr/>
          <a:lstStyle/>
          <a:p>
            <a:fld id="{568B2C7D-C21B-40D5-96D4-A6CB22B7CF2D}" type="slidenum">
              <a:rPr lang="en-IN" smtClean="0"/>
              <a:pPr/>
              <a:t>11</a:t>
            </a:fld>
            <a:endParaRPr lang="en-IN" dirty="0"/>
          </a:p>
        </p:txBody>
      </p:sp>
      <p:pic>
        <p:nvPicPr>
          <p:cNvPr id="6" name="Picture 5">
            <a:extLst>
              <a:ext uri="{FF2B5EF4-FFF2-40B4-BE49-F238E27FC236}">
                <a16:creationId xmlns:a16="http://schemas.microsoft.com/office/drawing/2014/main" id="{B63267A9-C1A7-90FB-0430-CAABC95F5950}"/>
              </a:ext>
            </a:extLst>
          </p:cNvPr>
          <p:cNvPicPr>
            <a:picLocks noChangeAspect="1"/>
          </p:cNvPicPr>
          <p:nvPr/>
        </p:nvPicPr>
        <p:blipFill>
          <a:blip r:embed="rId2">
            <a:extLst>
              <a:ext uri="{28A0092B-C50C-407E-A947-70E740481C1C}">
                <a14:useLocalDpi xmlns:a14="http://schemas.microsoft.com/office/drawing/2010/main" val="0"/>
              </a:ext>
            </a:extLst>
          </a:blip>
          <a:srcRect l="13667" t="6786" r="8918"/>
          <a:stretch/>
        </p:blipFill>
        <p:spPr>
          <a:xfrm>
            <a:off x="1960880" y="1178560"/>
            <a:ext cx="9234816" cy="4566436"/>
          </a:xfrm>
          <a:prstGeom prst="rect">
            <a:avLst/>
          </a:prstGeom>
        </p:spPr>
      </p:pic>
      <p:sp>
        <p:nvSpPr>
          <p:cNvPr id="7" name="TextBox 6">
            <a:extLst>
              <a:ext uri="{FF2B5EF4-FFF2-40B4-BE49-F238E27FC236}">
                <a16:creationId xmlns:a16="http://schemas.microsoft.com/office/drawing/2014/main" id="{7B882B98-8B07-FF35-2C66-748F4F31FE08}"/>
              </a:ext>
            </a:extLst>
          </p:cNvPr>
          <p:cNvSpPr txBox="1"/>
          <p:nvPr/>
        </p:nvSpPr>
        <p:spPr>
          <a:xfrm>
            <a:off x="1960880" y="294640"/>
            <a:ext cx="42672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RADIX-2 DIT FFT</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9861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18175" y="563145"/>
            <a:ext cx="1292341" cy="523220"/>
          </a:xfrm>
          <a:prstGeom prst="rect">
            <a:avLst/>
          </a:prstGeom>
        </p:spPr>
        <p:txBody>
          <a:bodyPr wrap="none">
            <a:spAutoFit/>
          </a:bodyPr>
          <a:lstStyle/>
          <a:p>
            <a:pPr algn="ctr"/>
            <a:r>
              <a:rPr lang="en-US" sz="28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Outcome</a:t>
            </a:r>
          </a:p>
        </p:txBody>
      </p:sp>
      <p:sp>
        <p:nvSpPr>
          <p:cNvPr id="6" name="Rectangle 5"/>
          <p:cNvSpPr/>
          <p:nvPr/>
        </p:nvSpPr>
        <p:spPr>
          <a:xfrm>
            <a:off x="1966100" y="1819762"/>
            <a:ext cx="8681544" cy="1687963"/>
          </a:xfrm>
          <a:prstGeom prst="rect">
            <a:avLst/>
          </a:prstGeom>
        </p:spPr>
        <p:txBody>
          <a:bodyPr wrap="square">
            <a:spAutoFit/>
          </a:bodyPr>
          <a:lstStyle/>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Designed a Verilog-based FFT processor for variable-length inputs</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Validated the design using Cadence simulation tools.</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Demonstrated scalability and hardware efficiency.</a:t>
            </a:r>
            <a:endParaRPr lang="en-IN" sz="2400" dirty="0">
              <a:latin typeface="Times New Roman" panose="02020603050405020304" pitchFamily="18" charset="0"/>
              <a:ea typeface="Gadugi" panose="020B0502040204020203" pitchFamily="34" charset="0"/>
              <a:cs typeface="Times New Roman" panose="02020603050405020304" pitchFamily="18" charset="0"/>
            </a:endParaRPr>
          </a:p>
        </p:txBody>
      </p:sp>
      <p:pic>
        <p:nvPicPr>
          <p:cNvPr id="7" name="Picture 6">
            <a:extLst>
              <a:ext uri="{FF2B5EF4-FFF2-40B4-BE49-F238E27FC236}">
                <a16:creationId xmlns:a16="http://schemas.microsoft.com/office/drawing/2014/main" id="{930821B7-A9F8-4C0A-8F9D-B48CA6DF3C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4000" y="3796653"/>
            <a:ext cx="3046106" cy="3061347"/>
          </a:xfrm>
          <a:prstGeom prst="rect">
            <a:avLst/>
          </a:prstGeom>
        </p:spPr>
      </p:pic>
      <p:sp>
        <p:nvSpPr>
          <p:cNvPr id="8" name="Date Placeholder 7"/>
          <p:cNvSpPr>
            <a:spLocks noGrp="1"/>
          </p:cNvSpPr>
          <p:nvPr>
            <p:ph type="dt" sz="half" idx="10"/>
          </p:nvPr>
        </p:nvSpPr>
        <p:spPr>
          <a:xfrm>
            <a:off x="9756719" y="6328443"/>
            <a:ext cx="1143000" cy="365125"/>
          </a:xfrm>
        </p:spPr>
        <p:txBody>
          <a:bodyPr/>
          <a:lstStyle/>
          <a:p>
            <a:r>
              <a:rPr lang="en-IN" dirty="0"/>
              <a:t>19-09-2024</a:t>
            </a:r>
          </a:p>
        </p:txBody>
      </p:sp>
      <p:sp>
        <p:nvSpPr>
          <p:cNvPr id="9" name="Slide Number Placeholder 8"/>
          <p:cNvSpPr>
            <a:spLocks noGrp="1"/>
          </p:cNvSpPr>
          <p:nvPr>
            <p:ph type="sldNum" sz="quarter" idx="12"/>
          </p:nvPr>
        </p:nvSpPr>
        <p:spPr/>
        <p:txBody>
          <a:bodyPr/>
          <a:lstStyle/>
          <a:p>
            <a:fld id="{568B2C7D-C21B-40D5-96D4-A6CB22B7CF2D}" type="slidenum">
              <a:rPr lang="en-IN" smtClean="0"/>
              <a:pPr/>
              <a:t>12</a:t>
            </a:fld>
            <a:endParaRPr lang="en-IN" dirty="0"/>
          </a:p>
        </p:txBody>
      </p:sp>
      <p:sp>
        <p:nvSpPr>
          <p:cNvPr id="10" name="Footer Placeholder 9"/>
          <p:cNvSpPr>
            <a:spLocks noGrp="1"/>
          </p:cNvSpPr>
          <p:nvPr>
            <p:ph type="ftr" sz="quarter" idx="11"/>
          </p:nvPr>
        </p:nvSpPr>
        <p:spPr>
          <a:xfrm>
            <a:off x="2764784" y="6492875"/>
            <a:ext cx="7084177" cy="365125"/>
          </a:xfrm>
        </p:spPr>
        <p:txBody>
          <a:bodyPr/>
          <a:lstStyle/>
          <a:p>
            <a:pPr algn="ctr"/>
            <a:r>
              <a:rPr lang="en-IN" dirty="0"/>
              <a:t>Dept. of E&amp;CE, PESITM, Shivamogga.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55BF73-6939-7467-8EC6-6675FAA8671B}"/>
              </a:ext>
            </a:extLst>
          </p:cNvPr>
          <p:cNvSpPr>
            <a:spLocks noGrp="1"/>
          </p:cNvSpPr>
          <p:nvPr>
            <p:ph type="dt" sz="half" idx="10"/>
          </p:nvPr>
        </p:nvSpPr>
        <p:spPr/>
        <p:txBody>
          <a:bodyPr/>
          <a:lstStyle/>
          <a:p>
            <a:fld id="{11585D03-D6AE-46F0-ACDD-5B733C55973E}" type="datetime1">
              <a:rPr lang="en-IN" smtClean="0"/>
              <a:t>01-02-2025</a:t>
            </a:fld>
            <a:endParaRPr lang="en-IN" dirty="0"/>
          </a:p>
        </p:txBody>
      </p:sp>
      <p:sp>
        <p:nvSpPr>
          <p:cNvPr id="3" name="Footer Placeholder 2">
            <a:extLst>
              <a:ext uri="{FF2B5EF4-FFF2-40B4-BE49-F238E27FC236}">
                <a16:creationId xmlns:a16="http://schemas.microsoft.com/office/drawing/2014/main" id="{29E731EF-1934-9F2E-BE66-2ADD30864501}"/>
              </a:ext>
            </a:extLst>
          </p:cNvPr>
          <p:cNvSpPr>
            <a:spLocks noGrp="1"/>
          </p:cNvSpPr>
          <p:nvPr>
            <p:ph type="ftr" sz="quarter" idx="11"/>
          </p:nvPr>
        </p:nvSpPr>
        <p:spPr>
          <a:xfrm>
            <a:off x="2572279" y="5893435"/>
            <a:ext cx="7084177" cy="365125"/>
          </a:xfrm>
        </p:spPr>
        <p:txBody>
          <a:bodyPr/>
          <a:lstStyle/>
          <a:p>
            <a:r>
              <a:rPr lang="en-IN"/>
              <a:t>Dept. of E&amp;CE, PESITM, Shivamogga.</a:t>
            </a:r>
            <a:endParaRPr lang="en-IN" dirty="0"/>
          </a:p>
        </p:txBody>
      </p:sp>
      <p:sp>
        <p:nvSpPr>
          <p:cNvPr id="4" name="Slide Number Placeholder 3">
            <a:extLst>
              <a:ext uri="{FF2B5EF4-FFF2-40B4-BE49-F238E27FC236}">
                <a16:creationId xmlns:a16="http://schemas.microsoft.com/office/drawing/2014/main" id="{9A010D84-E556-8A5F-D365-1733FA2B53DF}"/>
              </a:ext>
            </a:extLst>
          </p:cNvPr>
          <p:cNvSpPr>
            <a:spLocks noGrp="1"/>
          </p:cNvSpPr>
          <p:nvPr>
            <p:ph type="sldNum" sz="quarter" idx="12"/>
          </p:nvPr>
        </p:nvSpPr>
        <p:spPr/>
        <p:txBody>
          <a:bodyPr/>
          <a:lstStyle/>
          <a:p>
            <a:fld id="{568B2C7D-C21B-40D5-96D4-A6CB22B7CF2D}" type="slidenum">
              <a:rPr lang="en-IN" smtClean="0"/>
              <a:pPr/>
              <a:t>13</a:t>
            </a:fld>
            <a:endParaRPr lang="en-IN" dirty="0"/>
          </a:p>
        </p:txBody>
      </p:sp>
      <p:sp>
        <p:nvSpPr>
          <p:cNvPr id="5" name="TextBox 4">
            <a:extLst>
              <a:ext uri="{FF2B5EF4-FFF2-40B4-BE49-F238E27FC236}">
                <a16:creationId xmlns:a16="http://schemas.microsoft.com/office/drawing/2014/main" id="{057D0152-39C9-88AD-D3C9-9F8400A3B9B8}"/>
              </a:ext>
            </a:extLst>
          </p:cNvPr>
          <p:cNvSpPr txBox="1"/>
          <p:nvPr/>
        </p:nvSpPr>
        <p:spPr>
          <a:xfrm>
            <a:off x="1871494" y="655919"/>
            <a:ext cx="4006066" cy="369332"/>
          </a:xfrm>
          <a:prstGeom prst="rect">
            <a:avLst/>
          </a:prstGeom>
          <a:noFill/>
        </p:spPr>
        <p:txBody>
          <a:bodyPr wrap="square" rtlCol="0">
            <a:spAutoFit/>
          </a:bodyPr>
          <a:lstStyle/>
          <a:p>
            <a:r>
              <a:rPr lang="en-US" dirty="0"/>
              <a:t>RADIX </a:t>
            </a:r>
            <a:r>
              <a:rPr lang="en-US" dirty="0">
                <a:latin typeface="Times New Roman" panose="02020603050405020304" pitchFamily="18" charset="0"/>
                <a:cs typeface="Times New Roman" panose="02020603050405020304" pitchFamily="18" charset="0"/>
              </a:rPr>
              <a:t>2 FFT ALGORITHM</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B63267A9-C1A7-90FB-0430-CAABC95F5950}"/>
              </a:ext>
            </a:extLst>
          </p:cNvPr>
          <p:cNvPicPr>
            <a:picLocks noChangeAspect="1"/>
          </p:cNvPicPr>
          <p:nvPr/>
        </p:nvPicPr>
        <p:blipFill>
          <a:blip r:embed="rId2" cstate="print">
            <a:extLst>
              <a:ext uri="{28A0092B-C50C-407E-A947-70E740481C1C}">
                <a14:useLocalDpi xmlns:a14="http://schemas.microsoft.com/office/drawing/2010/main" val="0"/>
              </a:ext>
            </a:extLst>
          </a:blip>
          <a:srcRect l="13667" t="6786" r="8918"/>
          <a:stretch/>
        </p:blipFill>
        <p:spPr>
          <a:xfrm>
            <a:off x="1747403" y="1025251"/>
            <a:ext cx="9128253" cy="4752979"/>
          </a:xfrm>
          <a:prstGeom prst="rect">
            <a:avLst/>
          </a:prstGeom>
        </p:spPr>
      </p:pic>
    </p:spTree>
    <p:extLst>
      <p:ext uri="{BB962C8B-B14F-4D97-AF65-F5344CB8AC3E}">
        <p14:creationId xmlns:p14="http://schemas.microsoft.com/office/powerpoint/2010/main" val="268944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340490B-0A6B-2EFE-DD26-A47040791F8B}"/>
              </a:ext>
            </a:extLst>
          </p:cNvPr>
          <p:cNvSpPr>
            <a:spLocks noGrp="1"/>
          </p:cNvSpPr>
          <p:nvPr>
            <p:ph type="dt" sz="half" idx="10"/>
          </p:nvPr>
        </p:nvSpPr>
        <p:spPr/>
        <p:txBody>
          <a:bodyPr/>
          <a:lstStyle/>
          <a:p>
            <a:fld id="{84BE39BD-B5D3-4A68-A9F4-87021EF514D2}" type="datetime1">
              <a:rPr lang="en-IN" smtClean="0"/>
              <a:t>01-02-2025</a:t>
            </a:fld>
            <a:endParaRPr lang="en-IN" dirty="0"/>
          </a:p>
        </p:txBody>
      </p:sp>
      <p:sp>
        <p:nvSpPr>
          <p:cNvPr id="5" name="Footer Placeholder 4">
            <a:extLst>
              <a:ext uri="{FF2B5EF4-FFF2-40B4-BE49-F238E27FC236}">
                <a16:creationId xmlns:a16="http://schemas.microsoft.com/office/drawing/2014/main" id="{85A880B0-9D2A-C62C-569F-A48A27A433B8}"/>
              </a:ext>
            </a:extLst>
          </p:cNvPr>
          <p:cNvSpPr>
            <a:spLocks noGrp="1"/>
          </p:cNvSpPr>
          <p:nvPr>
            <p:ph type="ftr" sz="quarter" idx="11"/>
          </p:nvPr>
        </p:nvSpPr>
        <p:spPr/>
        <p:txBody>
          <a:bodyPr/>
          <a:lstStyle/>
          <a:p>
            <a:r>
              <a:rPr lang="en-IN"/>
              <a:t>Dept. of E&amp;CE, PESITM, Shivamogga.</a:t>
            </a:r>
            <a:endParaRPr lang="en-IN" dirty="0"/>
          </a:p>
        </p:txBody>
      </p:sp>
      <p:sp>
        <p:nvSpPr>
          <p:cNvPr id="6" name="Slide Number Placeholder 5">
            <a:extLst>
              <a:ext uri="{FF2B5EF4-FFF2-40B4-BE49-F238E27FC236}">
                <a16:creationId xmlns:a16="http://schemas.microsoft.com/office/drawing/2014/main" id="{B3C7EC3E-CAA0-CFE2-5399-2732E1CC2342}"/>
              </a:ext>
            </a:extLst>
          </p:cNvPr>
          <p:cNvSpPr>
            <a:spLocks noGrp="1"/>
          </p:cNvSpPr>
          <p:nvPr>
            <p:ph type="sldNum" sz="quarter" idx="12"/>
          </p:nvPr>
        </p:nvSpPr>
        <p:spPr/>
        <p:txBody>
          <a:bodyPr/>
          <a:lstStyle/>
          <a:p>
            <a:fld id="{568B2C7D-C21B-40D5-96D4-A6CB22B7CF2D}" type="slidenum">
              <a:rPr lang="en-IN" smtClean="0"/>
              <a:pPr/>
              <a:t>14</a:t>
            </a:fld>
            <a:endParaRPr lang="en-IN" dirty="0"/>
          </a:p>
        </p:txBody>
      </p:sp>
      <p:sp>
        <p:nvSpPr>
          <p:cNvPr id="8" name="Title 7">
            <a:extLst>
              <a:ext uri="{FF2B5EF4-FFF2-40B4-BE49-F238E27FC236}">
                <a16:creationId xmlns:a16="http://schemas.microsoft.com/office/drawing/2014/main" id="{D9CAB822-94C4-3680-63FE-E0C25F44278E}"/>
              </a:ext>
            </a:extLst>
          </p:cNvPr>
          <p:cNvSpPr>
            <a:spLocks noGrp="1"/>
          </p:cNvSpPr>
          <p:nvPr>
            <p:ph type="title"/>
          </p:nvPr>
        </p:nvSpPr>
        <p:spPr>
          <a:xfrm>
            <a:off x="-4742921" y="0"/>
            <a:ext cx="8930747" cy="765313"/>
          </a:xfrm>
        </p:spPr>
        <p:txBody>
          <a:bodyPr/>
          <a:lstStyle/>
          <a:p>
            <a:r>
              <a:rPr lang="en-US" dirty="0"/>
              <a:t>8-point FFT</a:t>
            </a:r>
            <a:endParaRPr lang="en-IN" dirty="0"/>
          </a:p>
        </p:txBody>
      </p:sp>
      <p:pic>
        <p:nvPicPr>
          <p:cNvPr id="2" name="Picture 1">
            <a:extLst>
              <a:ext uri="{FF2B5EF4-FFF2-40B4-BE49-F238E27FC236}">
                <a16:creationId xmlns:a16="http://schemas.microsoft.com/office/drawing/2014/main" id="{F247CEE3-A228-50C1-E525-E7F4B001C5E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756934" y="1259839"/>
            <a:ext cx="9470505" cy="4623435"/>
          </a:xfrm>
          <a:prstGeom prst="rect">
            <a:avLst/>
          </a:prstGeom>
          <a:noFill/>
          <a:ln>
            <a:noFill/>
          </a:ln>
        </p:spPr>
      </p:pic>
      <p:sp>
        <p:nvSpPr>
          <p:cNvPr id="11" name="TextBox 10">
            <a:extLst>
              <a:ext uri="{FF2B5EF4-FFF2-40B4-BE49-F238E27FC236}">
                <a16:creationId xmlns:a16="http://schemas.microsoft.com/office/drawing/2014/main" id="{B7625A16-BA04-5F4F-C633-C3EC4C414D41}"/>
              </a:ext>
            </a:extLst>
          </p:cNvPr>
          <p:cNvSpPr txBox="1"/>
          <p:nvPr/>
        </p:nvSpPr>
        <p:spPr>
          <a:xfrm>
            <a:off x="1643380" y="765313"/>
            <a:ext cx="8468360" cy="646331"/>
          </a:xfrm>
          <a:prstGeom prst="rect">
            <a:avLst/>
          </a:prstGeom>
          <a:noFill/>
        </p:spPr>
        <p:txBody>
          <a:bodyPr wrap="square">
            <a:spAutoFit/>
          </a:bodyPr>
          <a:lstStyle/>
          <a:p>
            <a:r>
              <a:rPr lang="en-US" sz="1800" dirty="0">
                <a:effectLst/>
                <a:latin typeface="Times New Roman" panose="02020603050405020304" pitchFamily="18" charset="0"/>
                <a:ea typeface="Times New Roman" panose="02020603050405020304" pitchFamily="18" charset="0"/>
              </a:rPr>
              <a:t>Input x(n)= {1,1,1,1,1,1,1,1}                                   Output X(k)={8,0,0,0,0,0,0,0}</a:t>
            </a:r>
            <a:endParaRPr lang="en-IN" sz="1800" dirty="0">
              <a:effectLst/>
              <a:latin typeface="Times New Roman" panose="02020603050405020304" pitchFamily="18" charset="0"/>
              <a:ea typeface="Times New Roman" panose="02020603050405020304" pitchFamily="18" charset="0"/>
            </a:endParaRPr>
          </a:p>
          <a:p>
            <a:endParaRPr lang="en-IN" dirty="0"/>
          </a:p>
        </p:txBody>
      </p:sp>
    </p:spTree>
    <p:extLst>
      <p:ext uri="{BB962C8B-B14F-4D97-AF65-F5344CB8AC3E}">
        <p14:creationId xmlns:p14="http://schemas.microsoft.com/office/powerpoint/2010/main" val="5755182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C46B528-1150-A990-F347-CF53D242ACB5}"/>
              </a:ext>
            </a:extLst>
          </p:cNvPr>
          <p:cNvSpPr>
            <a:spLocks noGrp="1"/>
          </p:cNvSpPr>
          <p:nvPr>
            <p:ph type="dt" sz="half" idx="10"/>
          </p:nvPr>
        </p:nvSpPr>
        <p:spPr>
          <a:xfrm>
            <a:off x="9732656" y="6175105"/>
            <a:ext cx="1143000" cy="365125"/>
          </a:xfrm>
        </p:spPr>
        <p:txBody>
          <a:bodyPr/>
          <a:lstStyle/>
          <a:p>
            <a:fld id="{11585D03-D6AE-46F0-ACDD-5B733C55973E}" type="datetime1">
              <a:rPr lang="en-IN" smtClean="0"/>
              <a:t>01-02-2025</a:t>
            </a:fld>
            <a:endParaRPr lang="en-IN" dirty="0"/>
          </a:p>
        </p:txBody>
      </p:sp>
      <p:sp>
        <p:nvSpPr>
          <p:cNvPr id="3" name="Footer Placeholder 2">
            <a:extLst>
              <a:ext uri="{FF2B5EF4-FFF2-40B4-BE49-F238E27FC236}">
                <a16:creationId xmlns:a16="http://schemas.microsoft.com/office/drawing/2014/main" id="{E4FB8DD4-A6CA-A798-BCDD-CE9655AC44BD}"/>
              </a:ext>
            </a:extLst>
          </p:cNvPr>
          <p:cNvSpPr>
            <a:spLocks noGrp="1"/>
          </p:cNvSpPr>
          <p:nvPr>
            <p:ph type="ftr" sz="quarter" idx="11"/>
          </p:nvPr>
        </p:nvSpPr>
        <p:spPr>
          <a:xfrm>
            <a:off x="2572279" y="6175105"/>
            <a:ext cx="7084177" cy="365125"/>
          </a:xfrm>
        </p:spPr>
        <p:txBody>
          <a:bodyPr/>
          <a:lstStyle/>
          <a:p>
            <a:r>
              <a:rPr lang="en-IN" dirty="0"/>
              <a:t>Dept. of E&amp;CE, PESITM, Shivamogga.</a:t>
            </a:r>
          </a:p>
        </p:txBody>
      </p:sp>
      <p:sp>
        <p:nvSpPr>
          <p:cNvPr id="4" name="Slide Number Placeholder 3">
            <a:extLst>
              <a:ext uri="{FF2B5EF4-FFF2-40B4-BE49-F238E27FC236}">
                <a16:creationId xmlns:a16="http://schemas.microsoft.com/office/drawing/2014/main" id="{BBE711AF-274F-30F5-4A0B-6E169CBD980B}"/>
              </a:ext>
            </a:extLst>
          </p:cNvPr>
          <p:cNvSpPr>
            <a:spLocks noGrp="1"/>
          </p:cNvSpPr>
          <p:nvPr>
            <p:ph type="sldNum" sz="quarter" idx="12"/>
          </p:nvPr>
        </p:nvSpPr>
        <p:spPr>
          <a:xfrm>
            <a:off x="10951856" y="6175104"/>
            <a:ext cx="551167" cy="365125"/>
          </a:xfrm>
        </p:spPr>
        <p:txBody>
          <a:bodyPr/>
          <a:lstStyle/>
          <a:p>
            <a:fld id="{568B2C7D-C21B-40D5-96D4-A6CB22B7CF2D}" type="slidenum">
              <a:rPr lang="en-IN" smtClean="0"/>
              <a:pPr/>
              <a:t>15</a:t>
            </a:fld>
            <a:endParaRPr lang="en-IN" dirty="0"/>
          </a:p>
        </p:txBody>
      </p:sp>
      <p:pic>
        <p:nvPicPr>
          <p:cNvPr id="7" name="Picture 6">
            <a:extLst>
              <a:ext uri="{FF2B5EF4-FFF2-40B4-BE49-F238E27FC236}">
                <a16:creationId xmlns:a16="http://schemas.microsoft.com/office/drawing/2014/main" id="{EE1E2078-C71D-599A-6A6A-28950D9A00C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484428" y="0"/>
            <a:ext cx="10577870" cy="5797685"/>
          </a:xfrm>
          <a:prstGeom prst="rect">
            <a:avLst/>
          </a:prstGeom>
          <a:noFill/>
          <a:ln>
            <a:noFill/>
          </a:ln>
        </p:spPr>
      </p:pic>
    </p:spTree>
    <p:extLst>
      <p:ext uri="{BB962C8B-B14F-4D97-AF65-F5344CB8AC3E}">
        <p14:creationId xmlns:p14="http://schemas.microsoft.com/office/powerpoint/2010/main" val="2858848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CDFD36-2C88-0168-B92D-ABD7126DA997}"/>
              </a:ext>
            </a:extLst>
          </p:cNvPr>
          <p:cNvSpPr>
            <a:spLocks noGrp="1"/>
          </p:cNvSpPr>
          <p:nvPr>
            <p:ph type="dt" sz="half" idx="10"/>
          </p:nvPr>
        </p:nvSpPr>
        <p:spPr/>
        <p:txBody>
          <a:bodyPr/>
          <a:lstStyle/>
          <a:p>
            <a:fld id="{11585D03-D6AE-46F0-ACDD-5B733C55973E}" type="datetime1">
              <a:rPr lang="en-IN" smtClean="0"/>
              <a:t>01-02-2025</a:t>
            </a:fld>
            <a:endParaRPr lang="en-IN" dirty="0"/>
          </a:p>
        </p:txBody>
      </p:sp>
      <p:sp>
        <p:nvSpPr>
          <p:cNvPr id="3" name="Footer Placeholder 2">
            <a:extLst>
              <a:ext uri="{FF2B5EF4-FFF2-40B4-BE49-F238E27FC236}">
                <a16:creationId xmlns:a16="http://schemas.microsoft.com/office/drawing/2014/main" id="{E4DE24D2-0B04-5817-65B8-033198A97DB5}"/>
              </a:ext>
            </a:extLst>
          </p:cNvPr>
          <p:cNvSpPr>
            <a:spLocks noGrp="1"/>
          </p:cNvSpPr>
          <p:nvPr>
            <p:ph type="ftr" sz="quarter" idx="11"/>
          </p:nvPr>
        </p:nvSpPr>
        <p:spPr/>
        <p:txBody>
          <a:bodyPr/>
          <a:lstStyle/>
          <a:p>
            <a:r>
              <a:rPr lang="en-IN"/>
              <a:t>Dept. of E&amp;CE, PESITM, Shivamogga.</a:t>
            </a:r>
            <a:endParaRPr lang="en-IN" dirty="0"/>
          </a:p>
        </p:txBody>
      </p:sp>
      <p:sp>
        <p:nvSpPr>
          <p:cNvPr id="4" name="Slide Number Placeholder 3">
            <a:extLst>
              <a:ext uri="{FF2B5EF4-FFF2-40B4-BE49-F238E27FC236}">
                <a16:creationId xmlns:a16="http://schemas.microsoft.com/office/drawing/2014/main" id="{A27DF68D-C83C-9595-9D72-77C6E340CB7E}"/>
              </a:ext>
            </a:extLst>
          </p:cNvPr>
          <p:cNvSpPr>
            <a:spLocks noGrp="1"/>
          </p:cNvSpPr>
          <p:nvPr>
            <p:ph type="sldNum" sz="quarter" idx="12"/>
          </p:nvPr>
        </p:nvSpPr>
        <p:spPr/>
        <p:txBody>
          <a:bodyPr/>
          <a:lstStyle/>
          <a:p>
            <a:fld id="{568B2C7D-C21B-40D5-96D4-A6CB22B7CF2D}" type="slidenum">
              <a:rPr lang="en-IN" smtClean="0"/>
              <a:pPr/>
              <a:t>16</a:t>
            </a:fld>
            <a:endParaRPr lang="en-IN" dirty="0"/>
          </a:p>
        </p:txBody>
      </p:sp>
      <p:sp>
        <p:nvSpPr>
          <p:cNvPr id="7" name="TextBox 6">
            <a:extLst>
              <a:ext uri="{FF2B5EF4-FFF2-40B4-BE49-F238E27FC236}">
                <a16:creationId xmlns:a16="http://schemas.microsoft.com/office/drawing/2014/main" id="{079A897E-A7DE-785F-1DFB-519C4D56F491}"/>
              </a:ext>
            </a:extLst>
          </p:cNvPr>
          <p:cNvSpPr txBox="1"/>
          <p:nvPr/>
        </p:nvSpPr>
        <p:spPr>
          <a:xfrm>
            <a:off x="2572279" y="-130576"/>
            <a:ext cx="6094378" cy="1612236"/>
          </a:xfrm>
          <a:prstGeom prst="rect">
            <a:avLst/>
          </a:prstGeom>
          <a:noFill/>
        </p:spPr>
        <p:txBody>
          <a:bodyPr wrap="square">
            <a:spAutoFit/>
          </a:bodyPr>
          <a:lstStyle/>
          <a:p>
            <a:pPr marL="457200" algn="just">
              <a:lnSpc>
                <a:spcPct val="150000"/>
              </a:lnSpc>
              <a:spcBef>
                <a:spcPts val="20"/>
              </a:spcBef>
            </a:pPr>
            <a:r>
              <a:rPr lang="en-US" sz="1800" dirty="0">
                <a:effectLst/>
                <a:latin typeface="Times New Roman" panose="02020603050405020304" pitchFamily="18" charset="0"/>
                <a:ea typeface="Times New Roman" panose="02020603050405020304" pitchFamily="18" charset="0"/>
              </a:rPr>
              <a:t> </a:t>
            </a:r>
            <a:r>
              <a:rPr lang="en-US" sz="1600" dirty="0">
                <a:effectLst/>
                <a:latin typeface="Times New Roman" panose="02020603050405020304" pitchFamily="18" charset="0"/>
                <a:ea typeface="Times New Roman" panose="02020603050405020304" pitchFamily="18" charset="0"/>
              </a:rPr>
              <a:t>x(n) ={1,1,1,1}</a:t>
            </a:r>
            <a:endParaRPr lang="en-IN" sz="1600" dirty="0">
              <a:effectLst/>
              <a:latin typeface="Times New Roman" panose="02020603050405020304" pitchFamily="18" charset="0"/>
              <a:ea typeface="Times New Roman" panose="02020603050405020304" pitchFamily="18" charset="0"/>
            </a:endParaRPr>
          </a:p>
          <a:p>
            <a:pPr marL="457200" algn="just">
              <a:lnSpc>
                <a:spcPct val="150000"/>
              </a:lnSpc>
              <a:spcBef>
                <a:spcPts val="20"/>
              </a:spcBef>
            </a:pPr>
            <a:r>
              <a:rPr lang="en-US" sz="1600" dirty="0">
                <a:effectLst/>
                <a:latin typeface="Times New Roman" panose="02020603050405020304" pitchFamily="18" charset="0"/>
                <a:ea typeface="Times New Roman" panose="02020603050405020304" pitchFamily="18" charset="0"/>
              </a:rPr>
              <a:t>X(k)= Real Part: {4, 1, 0, 1, 0, 1, 0, 1}</a:t>
            </a:r>
            <a:endParaRPr lang="en-IN" sz="1600" dirty="0">
              <a:effectLst/>
              <a:latin typeface="Times New Roman" panose="02020603050405020304" pitchFamily="18" charset="0"/>
              <a:ea typeface="Times New Roman" panose="02020603050405020304" pitchFamily="18" charset="0"/>
            </a:endParaRPr>
          </a:p>
          <a:p>
            <a:pPr>
              <a:lnSpc>
                <a:spcPct val="150000"/>
              </a:lnSpc>
              <a:spcBef>
                <a:spcPts val="20"/>
              </a:spcBef>
            </a:pPr>
            <a:r>
              <a:rPr lang="en-US" sz="1600" dirty="0">
                <a:effectLst/>
                <a:latin typeface="Times New Roman" panose="02020603050405020304" pitchFamily="18" charset="0"/>
                <a:ea typeface="Times New Roman" panose="02020603050405020304" pitchFamily="18" charset="0"/>
              </a:rPr>
              <a:t>                  Imaginary Part: {0, -1, 0, -1, 0, 1, 0, 1}</a:t>
            </a:r>
            <a:endParaRPr lang="en-IN" sz="1600" dirty="0">
              <a:effectLst/>
              <a:latin typeface="Times New Roman" panose="02020603050405020304" pitchFamily="18" charset="0"/>
              <a:ea typeface="Times New Roman" panose="02020603050405020304" pitchFamily="18" charset="0"/>
            </a:endParaRPr>
          </a:p>
          <a:p>
            <a:pPr algn="ctr">
              <a:lnSpc>
                <a:spcPct val="150000"/>
              </a:lnSpc>
              <a:spcBef>
                <a:spcPts val="20"/>
              </a:spcBef>
            </a:pPr>
            <a:endParaRPr lang="en-IN" sz="1800" dirty="0">
              <a:effectLst/>
              <a:latin typeface="Times New Roman" panose="02020603050405020304" pitchFamily="18" charset="0"/>
              <a:ea typeface="Times New Roman" panose="02020603050405020304" pitchFamily="18" charset="0"/>
            </a:endParaRPr>
          </a:p>
        </p:txBody>
      </p:sp>
      <p:pic>
        <p:nvPicPr>
          <p:cNvPr id="9" name="Picture 8">
            <a:extLst>
              <a:ext uri="{FF2B5EF4-FFF2-40B4-BE49-F238E27FC236}">
                <a16:creationId xmlns:a16="http://schemas.microsoft.com/office/drawing/2014/main" id="{89B88096-0A59-4FCA-4D54-D32A69242F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2266545" y="1057421"/>
            <a:ext cx="8044773" cy="4825854"/>
          </a:xfrm>
          <a:prstGeom prst="rect">
            <a:avLst/>
          </a:prstGeom>
          <a:noFill/>
          <a:ln>
            <a:noFill/>
          </a:ln>
        </p:spPr>
      </p:pic>
    </p:spTree>
    <p:extLst>
      <p:ext uri="{BB962C8B-B14F-4D97-AF65-F5344CB8AC3E}">
        <p14:creationId xmlns:p14="http://schemas.microsoft.com/office/powerpoint/2010/main" val="1950561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14D1DC-7522-8AE8-CAF1-5197E1C33B30}"/>
              </a:ext>
            </a:extLst>
          </p:cNvPr>
          <p:cNvSpPr>
            <a:spLocks noGrp="1"/>
          </p:cNvSpPr>
          <p:nvPr>
            <p:ph type="dt" sz="half" idx="10"/>
          </p:nvPr>
        </p:nvSpPr>
        <p:spPr/>
        <p:txBody>
          <a:bodyPr/>
          <a:lstStyle/>
          <a:p>
            <a:fld id="{11585D03-D6AE-46F0-ACDD-5B733C55973E}" type="datetime1">
              <a:rPr lang="en-IN" smtClean="0"/>
              <a:t>01-02-2025</a:t>
            </a:fld>
            <a:endParaRPr lang="en-IN" dirty="0"/>
          </a:p>
        </p:txBody>
      </p:sp>
      <p:sp>
        <p:nvSpPr>
          <p:cNvPr id="3" name="Footer Placeholder 2">
            <a:extLst>
              <a:ext uri="{FF2B5EF4-FFF2-40B4-BE49-F238E27FC236}">
                <a16:creationId xmlns:a16="http://schemas.microsoft.com/office/drawing/2014/main" id="{151FE0FB-5FCD-E9B2-D537-530BE282B9B9}"/>
              </a:ext>
            </a:extLst>
          </p:cNvPr>
          <p:cNvSpPr>
            <a:spLocks noGrp="1"/>
          </p:cNvSpPr>
          <p:nvPr>
            <p:ph type="ftr" sz="quarter" idx="11"/>
          </p:nvPr>
        </p:nvSpPr>
        <p:spPr/>
        <p:txBody>
          <a:bodyPr/>
          <a:lstStyle/>
          <a:p>
            <a:r>
              <a:rPr lang="en-IN"/>
              <a:t>Dept. of E&amp;CE, PESITM, Shivamogga.</a:t>
            </a:r>
            <a:endParaRPr lang="en-IN" dirty="0"/>
          </a:p>
        </p:txBody>
      </p:sp>
      <p:sp>
        <p:nvSpPr>
          <p:cNvPr id="4" name="Slide Number Placeholder 3">
            <a:extLst>
              <a:ext uri="{FF2B5EF4-FFF2-40B4-BE49-F238E27FC236}">
                <a16:creationId xmlns:a16="http://schemas.microsoft.com/office/drawing/2014/main" id="{847D9E4B-FB7F-D6A3-302D-39A473E447B9}"/>
              </a:ext>
            </a:extLst>
          </p:cNvPr>
          <p:cNvSpPr>
            <a:spLocks noGrp="1"/>
          </p:cNvSpPr>
          <p:nvPr>
            <p:ph type="sldNum" sz="quarter" idx="12"/>
          </p:nvPr>
        </p:nvSpPr>
        <p:spPr/>
        <p:txBody>
          <a:bodyPr/>
          <a:lstStyle/>
          <a:p>
            <a:fld id="{568B2C7D-C21B-40D5-96D4-A6CB22B7CF2D}" type="slidenum">
              <a:rPr lang="en-IN" smtClean="0"/>
              <a:pPr/>
              <a:t>17</a:t>
            </a:fld>
            <a:endParaRPr lang="en-IN" dirty="0"/>
          </a:p>
        </p:txBody>
      </p:sp>
      <p:pic>
        <p:nvPicPr>
          <p:cNvPr id="5" name="Picture 4">
            <a:extLst>
              <a:ext uri="{FF2B5EF4-FFF2-40B4-BE49-F238E27FC236}">
                <a16:creationId xmlns:a16="http://schemas.microsoft.com/office/drawing/2014/main" id="{B2D29256-F7C3-4061-A510-ABF50A80B3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1507787" y="1"/>
            <a:ext cx="10252954" cy="5710136"/>
          </a:xfrm>
          <a:prstGeom prst="rect">
            <a:avLst/>
          </a:prstGeom>
          <a:noFill/>
          <a:ln>
            <a:noFill/>
          </a:ln>
        </p:spPr>
      </p:pic>
    </p:spTree>
    <p:extLst>
      <p:ext uri="{BB962C8B-B14F-4D97-AF65-F5344CB8AC3E}">
        <p14:creationId xmlns:p14="http://schemas.microsoft.com/office/powerpoint/2010/main" val="34706545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E7287B-1C37-33DE-62D9-AD6779A35028}"/>
              </a:ext>
            </a:extLst>
          </p:cNvPr>
          <p:cNvSpPr>
            <a:spLocks noGrp="1"/>
          </p:cNvSpPr>
          <p:nvPr>
            <p:ph type="dt" sz="half" idx="10"/>
          </p:nvPr>
        </p:nvSpPr>
        <p:spPr/>
        <p:txBody>
          <a:bodyPr/>
          <a:lstStyle/>
          <a:p>
            <a:fld id="{11585D03-D6AE-46F0-ACDD-5B733C55973E}" type="datetime1">
              <a:rPr lang="en-IN" smtClean="0"/>
              <a:t>01-02-2025</a:t>
            </a:fld>
            <a:endParaRPr lang="en-IN" dirty="0"/>
          </a:p>
        </p:txBody>
      </p:sp>
      <p:sp>
        <p:nvSpPr>
          <p:cNvPr id="3" name="Footer Placeholder 2">
            <a:extLst>
              <a:ext uri="{FF2B5EF4-FFF2-40B4-BE49-F238E27FC236}">
                <a16:creationId xmlns:a16="http://schemas.microsoft.com/office/drawing/2014/main" id="{C2D4D63F-D844-5114-B9B3-B21CC5E0FA0A}"/>
              </a:ext>
            </a:extLst>
          </p:cNvPr>
          <p:cNvSpPr>
            <a:spLocks noGrp="1"/>
          </p:cNvSpPr>
          <p:nvPr>
            <p:ph type="ftr" sz="quarter" idx="11"/>
          </p:nvPr>
        </p:nvSpPr>
        <p:spPr/>
        <p:txBody>
          <a:bodyPr/>
          <a:lstStyle/>
          <a:p>
            <a:r>
              <a:rPr lang="en-IN"/>
              <a:t>Dept. of E&amp;CE, PESITM, Shivamogga.</a:t>
            </a:r>
            <a:endParaRPr lang="en-IN" dirty="0"/>
          </a:p>
        </p:txBody>
      </p:sp>
      <p:sp>
        <p:nvSpPr>
          <p:cNvPr id="4" name="Slide Number Placeholder 3">
            <a:extLst>
              <a:ext uri="{FF2B5EF4-FFF2-40B4-BE49-F238E27FC236}">
                <a16:creationId xmlns:a16="http://schemas.microsoft.com/office/drawing/2014/main" id="{48C732E8-68D2-AA3E-B470-017ABB0C1157}"/>
              </a:ext>
            </a:extLst>
          </p:cNvPr>
          <p:cNvSpPr>
            <a:spLocks noGrp="1"/>
          </p:cNvSpPr>
          <p:nvPr>
            <p:ph type="sldNum" sz="quarter" idx="12"/>
          </p:nvPr>
        </p:nvSpPr>
        <p:spPr/>
        <p:txBody>
          <a:bodyPr/>
          <a:lstStyle/>
          <a:p>
            <a:fld id="{568B2C7D-C21B-40D5-96D4-A6CB22B7CF2D}" type="slidenum">
              <a:rPr lang="en-IN" smtClean="0"/>
              <a:pPr/>
              <a:t>18</a:t>
            </a:fld>
            <a:endParaRPr lang="en-IN" dirty="0"/>
          </a:p>
        </p:txBody>
      </p:sp>
      <p:sp>
        <p:nvSpPr>
          <p:cNvPr id="7" name="TextBox 6">
            <a:extLst>
              <a:ext uri="{FF2B5EF4-FFF2-40B4-BE49-F238E27FC236}">
                <a16:creationId xmlns:a16="http://schemas.microsoft.com/office/drawing/2014/main" id="{6DFC47B4-EE56-9154-18E9-81922AF904FF}"/>
              </a:ext>
            </a:extLst>
          </p:cNvPr>
          <p:cNvSpPr txBox="1"/>
          <p:nvPr/>
        </p:nvSpPr>
        <p:spPr>
          <a:xfrm>
            <a:off x="1004381" y="0"/>
            <a:ext cx="6094378" cy="1446550"/>
          </a:xfrm>
          <a:prstGeom prst="rect">
            <a:avLst/>
          </a:prstGeom>
          <a:noFill/>
        </p:spPr>
        <p:txBody>
          <a:bodyPr wrap="square">
            <a:spAutoFit/>
          </a:bodyPr>
          <a:lstStyle/>
          <a:p>
            <a:pPr marL="457200" algn="just">
              <a:lnSpc>
                <a:spcPct val="150000"/>
              </a:lnSpc>
              <a:spcBef>
                <a:spcPts val="20"/>
              </a:spcBef>
            </a:pPr>
            <a:r>
              <a:rPr lang="en-US" sz="1600" dirty="0">
                <a:effectLst/>
                <a:latin typeface="Times New Roman" panose="02020603050405020304" pitchFamily="18" charset="0"/>
                <a:ea typeface="Times New Roman" panose="02020603050405020304" pitchFamily="18" charset="0"/>
              </a:rPr>
              <a:t>Input x(n) ={1,2,3,4,5} </a:t>
            </a:r>
          </a:p>
          <a:p>
            <a:pPr marL="457200" algn="just">
              <a:lnSpc>
                <a:spcPct val="150000"/>
              </a:lnSpc>
              <a:spcBef>
                <a:spcPts val="20"/>
              </a:spcBef>
            </a:pPr>
            <a:r>
              <a:rPr lang="en-US" sz="1600" dirty="0">
                <a:effectLst/>
                <a:latin typeface="Times New Roman" panose="02020603050405020304" pitchFamily="18" charset="0"/>
                <a:ea typeface="Times New Roman" panose="02020603050405020304" pitchFamily="18" charset="0"/>
              </a:rPr>
              <a:t>Output X(k)= Real Part: {15, 6, 3, -2, 3, -2, 3, 9}</a:t>
            </a:r>
            <a:endParaRPr lang="en-IN" sz="1600" dirty="0">
              <a:effectLst/>
              <a:latin typeface="Times New Roman" panose="02020603050405020304" pitchFamily="18" charset="0"/>
              <a:ea typeface="Times New Roman" panose="02020603050405020304" pitchFamily="18" charset="0"/>
            </a:endParaRPr>
          </a:p>
          <a:p>
            <a:pPr algn="ctr">
              <a:lnSpc>
                <a:spcPct val="150000"/>
              </a:lnSpc>
              <a:spcBef>
                <a:spcPts val="20"/>
              </a:spcBef>
            </a:pPr>
            <a:r>
              <a:rPr lang="en-US" sz="1600" dirty="0">
                <a:effectLst/>
                <a:latin typeface="Times New Roman" panose="02020603050405020304" pitchFamily="18" charset="0"/>
                <a:ea typeface="Times New Roman" panose="02020603050405020304" pitchFamily="18" charset="0"/>
              </a:rPr>
              <a:t>                   Imaginary Part: {0, -9, 2, -3, 0, 3, -2, 9}</a:t>
            </a:r>
            <a:endParaRPr lang="en-IN" sz="1600" dirty="0">
              <a:effectLst/>
              <a:latin typeface="Times New Roman" panose="02020603050405020304" pitchFamily="18" charset="0"/>
              <a:ea typeface="Times New Roman" panose="02020603050405020304" pitchFamily="18" charset="0"/>
            </a:endParaRPr>
          </a:p>
          <a:p>
            <a:endParaRPr lang="en-IN" sz="1600" dirty="0"/>
          </a:p>
        </p:txBody>
      </p:sp>
      <p:pic>
        <p:nvPicPr>
          <p:cNvPr id="8" name="Picture 7">
            <a:extLst>
              <a:ext uri="{FF2B5EF4-FFF2-40B4-BE49-F238E27FC236}">
                <a16:creationId xmlns:a16="http://schemas.microsoft.com/office/drawing/2014/main" id="{485B6A4E-CD5C-F168-B869-6C36398FDDB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1420239" y="1095191"/>
            <a:ext cx="8312417" cy="4788084"/>
          </a:xfrm>
          <a:prstGeom prst="rect">
            <a:avLst/>
          </a:prstGeom>
          <a:noFill/>
          <a:ln>
            <a:noFill/>
          </a:ln>
        </p:spPr>
      </p:pic>
    </p:spTree>
    <p:extLst>
      <p:ext uri="{BB962C8B-B14F-4D97-AF65-F5344CB8AC3E}">
        <p14:creationId xmlns:p14="http://schemas.microsoft.com/office/powerpoint/2010/main" val="2708341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229B23-0C43-8E61-DB87-A051E2ECE712}"/>
              </a:ext>
            </a:extLst>
          </p:cNvPr>
          <p:cNvSpPr>
            <a:spLocks noGrp="1"/>
          </p:cNvSpPr>
          <p:nvPr>
            <p:ph type="dt" sz="half" idx="10"/>
          </p:nvPr>
        </p:nvSpPr>
        <p:spPr/>
        <p:txBody>
          <a:bodyPr/>
          <a:lstStyle/>
          <a:p>
            <a:fld id="{11585D03-D6AE-46F0-ACDD-5B733C55973E}" type="datetime1">
              <a:rPr lang="en-IN" smtClean="0"/>
              <a:t>01-02-2025</a:t>
            </a:fld>
            <a:endParaRPr lang="en-IN" dirty="0"/>
          </a:p>
        </p:txBody>
      </p:sp>
      <p:sp>
        <p:nvSpPr>
          <p:cNvPr id="3" name="Footer Placeholder 2">
            <a:extLst>
              <a:ext uri="{FF2B5EF4-FFF2-40B4-BE49-F238E27FC236}">
                <a16:creationId xmlns:a16="http://schemas.microsoft.com/office/drawing/2014/main" id="{7FDAF0A7-9A62-89D7-12F8-A54BB0CC418B}"/>
              </a:ext>
            </a:extLst>
          </p:cNvPr>
          <p:cNvSpPr>
            <a:spLocks noGrp="1"/>
          </p:cNvSpPr>
          <p:nvPr>
            <p:ph type="ftr" sz="quarter" idx="11"/>
          </p:nvPr>
        </p:nvSpPr>
        <p:spPr/>
        <p:txBody>
          <a:bodyPr/>
          <a:lstStyle/>
          <a:p>
            <a:r>
              <a:rPr lang="en-IN"/>
              <a:t>Dept. of E&amp;CE, PESITM, Shivamogga.</a:t>
            </a:r>
            <a:endParaRPr lang="en-IN" dirty="0"/>
          </a:p>
        </p:txBody>
      </p:sp>
      <p:sp>
        <p:nvSpPr>
          <p:cNvPr id="4" name="Slide Number Placeholder 3">
            <a:extLst>
              <a:ext uri="{FF2B5EF4-FFF2-40B4-BE49-F238E27FC236}">
                <a16:creationId xmlns:a16="http://schemas.microsoft.com/office/drawing/2014/main" id="{B6E8D760-B723-1790-0BC4-51E8C2B72705}"/>
              </a:ext>
            </a:extLst>
          </p:cNvPr>
          <p:cNvSpPr>
            <a:spLocks noGrp="1"/>
          </p:cNvSpPr>
          <p:nvPr>
            <p:ph type="sldNum" sz="quarter" idx="12"/>
          </p:nvPr>
        </p:nvSpPr>
        <p:spPr/>
        <p:txBody>
          <a:bodyPr/>
          <a:lstStyle/>
          <a:p>
            <a:fld id="{568B2C7D-C21B-40D5-96D4-A6CB22B7CF2D}" type="slidenum">
              <a:rPr lang="en-IN" smtClean="0"/>
              <a:pPr/>
              <a:t>19</a:t>
            </a:fld>
            <a:endParaRPr lang="en-IN" dirty="0"/>
          </a:p>
        </p:txBody>
      </p:sp>
      <p:pic>
        <p:nvPicPr>
          <p:cNvPr id="5" name="Picture 4">
            <a:extLst>
              <a:ext uri="{FF2B5EF4-FFF2-40B4-BE49-F238E27FC236}">
                <a16:creationId xmlns:a16="http://schemas.microsoft.com/office/drawing/2014/main" id="{6E9DD279-E84D-7DEB-3D8A-6190FF40811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bwMode="auto">
          <a:xfrm>
            <a:off x="2199372" y="0"/>
            <a:ext cx="9571095" cy="5783843"/>
          </a:xfrm>
          <a:prstGeom prst="rect">
            <a:avLst/>
          </a:prstGeom>
          <a:noFill/>
          <a:ln>
            <a:noFill/>
          </a:ln>
        </p:spPr>
      </p:pic>
    </p:spTree>
    <p:extLst>
      <p:ext uri="{BB962C8B-B14F-4D97-AF65-F5344CB8AC3E}">
        <p14:creationId xmlns:p14="http://schemas.microsoft.com/office/powerpoint/2010/main" val="1226905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78567E4-AF55-4814-8950-944B5B1507BA}"/>
              </a:ext>
            </a:extLst>
          </p:cNvPr>
          <p:cNvSpPr>
            <a:spLocks noGrp="1"/>
          </p:cNvSpPr>
          <p:nvPr>
            <p:ph type="body" idx="1"/>
          </p:nvPr>
        </p:nvSpPr>
        <p:spPr>
          <a:xfrm>
            <a:off x="1688840" y="857250"/>
            <a:ext cx="9767137" cy="4769109"/>
          </a:xfrm>
        </p:spPr>
        <p:txBody>
          <a:bodyPr>
            <a:noAutofit/>
          </a:bodyPr>
          <a:lstStyle/>
          <a:p>
            <a:pPr algn="just">
              <a:lnSpc>
                <a:spcPct val="115000"/>
              </a:lnSpc>
              <a:spcAft>
                <a:spcPts val="1000"/>
              </a:spcAft>
            </a:pPr>
            <a:r>
              <a:rPr lang="en-US" sz="1500" b="1" dirty="0">
                <a:effectLst/>
                <a:latin typeface="Times New Roman" panose="02020603050405020304" pitchFamily="18" charset="0"/>
                <a:ea typeface="Times New Roman" panose="02020603050405020304" pitchFamily="18" charset="0"/>
                <a:cs typeface="Times New Roman" panose="02020603050405020304" pitchFamily="18" charset="0"/>
              </a:rPr>
              <a:t>[1]. Wangwang Dai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“Parallel 16‐Point FFT Based on Real‐Time Spectrum Analysis System and Its FPGA Implementation,” </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World Scientific Research Journal</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Vol.8, Issue 3, pp. 11-18, 2022.</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500" b="1" dirty="0">
                <a:effectLst/>
                <a:latin typeface="Times New Roman" panose="02020603050405020304" pitchFamily="18" charset="0"/>
                <a:ea typeface="Times New Roman" panose="02020603050405020304" pitchFamily="18" charset="0"/>
                <a:cs typeface="Times New Roman" panose="02020603050405020304" pitchFamily="18" charset="0"/>
              </a:rPr>
              <a:t>[2]. </a:t>
            </a:r>
            <a:r>
              <a:rPr lang="en-IN" sz="1500" b="1" dirty="0">
                <a:effectLst/>
                <a:latin typeface="Times New Roman" panose="02020603050405020304" pitchFamily="18" charset="0"/>
                <a:ea typeface="Times New Roman" panose="02020603050405020304" pitchFamily="18" charset="0"/>
                <a:cs typeface="Times New Roman" panose="02020603050405020304" pitchFamily="18" charset="0"/>
              </a:rPr>
              <a:t>Amit Kumar, Adesh Kumar, and Aakanksha Devrari, </a:t>
            </a: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“Hardware Chip Performance Analysis of Different FFT Architecture,” </a:t>
            </a:r>
            <a:r>
              <a:rPr lang="en-IN" sz="1500" i="1" dirty="0">
                <a:effectLst/>
                <a:latin typeface="Times New Roman" panose="02020603050405020304" pitchFamily="18" charset="0"/>
                <a:ea typeface="Times New Roman" panose="02020603050405020304" pitchFamily="18" charset="0"/>
                <a:cs typeface="Times New Roman" panose="02020603050405020304" pitchFamily="18" charset="0"/>
              </a:rPr>
              <a:t>International Journal of Electronics</a:t>
            </a:r>
            <a:r>
              <a:rPr lang="en-IN" sz="1500" dirty="0">
                <a:effectLst/>
                <a:latin typeface="Times New Roman" panose="02020603050405020304" pitchFamily="18" charset="0"/>
                <a:ea typeface="Times New Roman" panose="02020603050405020304" pitchFamily="18" charset="0"/>
                <a:cs typeface="Times New Roman" panose="02020603050405020304" pitchFamily="18" charset="0"/>
              </a:rPr>
              <a:t>, 2022. </a:t>
            </a:r>
          </a:p>
          <a:p>
            <a:pPr algn="just">
              <a:lnSpc>
                <a:spcPct val="115000"/>
              </a:lnSpc>
              <a:spcAft>
                <a:spcPts val="1000"/>
              </a:spcAft>
            </a:pPr>
            <a:r>
              <a:rPr lang="en-US" sz="1500" b="1" dirty="0">
                <a:effectLst/>
                <a:latin typeface="Times New Roman" panose="02020603050405020304" pitchFamily="18" charset="0"/>
                <a:ea typeface="Times New Roman" panose="02020603050405020304" pitchFamily="18" charset="0"/>
                <a:cs typeface="Times New Roman" panose="02020603050405020304" pitchFamily="18" charset="0"/>
              </a:rPr>
              <a:t>[3]. Hung-Ju Lin and Chung-An Shen,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“The Architectural Optimizations of a Low-Complexity and Low-Latency FFT Processor for MIMO-OFDM Communication Systems,” </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Journal of Signal Processing Systems</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Springer, Vol. 69, pp. 1537-1548, 2020.</a:t>
            </a:r>
          </a:p>
          <a:p>
            <a:pPr algn="just">
              <a:lnSpc>
                <a:spcPct val="115000"/>
              </a:lnSpc>
              <a:spcAft>
                <a:spcPts val="1000"/>
              </a:spcAft>
            </a:pPr>
            <a:r>
              <a:rPr lang="en-US" sz="1500" b="1" dirty="0">
                <a:effectLst/>
                <a:latin typeface="Times New Roman" panose="02020603050405020304" pitchFamily="18" charset="0"/>
                <a:ea typeface="Times New Roman" panose="02020603050405020304" pitchFamily="18" charset="0"/>
                <a:cs typeface="Times New Roman" panose="02020603050405020304" pitchFamily="18" charset="0"/>
              </a:rPr>
              <a:t> [4]. Alahari Radhika, K. Satya Prasad, and K. Kishan Rao,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“Optimised Floating Point FFT Core for Improved OMP CS System,” </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International Journal of Electronics</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2021.</a:t>
            </a:r>
            <a:endParaRPr lang="en-IN" sz="1500" dirty="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sz="1500" b="1" dirty="0">
                <a:effectLst/>
                <a:latin typeface="Times New Roman" panose="02020603050405020304" pitchFamily="18" charset="0"/>
                <a:ea typeface="Times New Roman" panose="02020603050405020304" pitchFamily="18" charset="0"/>
                <a:cs typeface="Times New Roman" panose="02020603050405020304" pitchFamily="18" charset="0"/>
              </a:rPr>
              <a:t>[5]. IEEE Transactions on Signal Processing</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“A Depth-First Iterative Algorithm for the Conjugate Pair Fast Fourier Transform,” </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IEEE Transactions on Signal Processing</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Vol. 69, Issue 2, pp. 1200-1210, 2021.</a:t>
            </a:r>
          </a:p>
          <a:p>
            <a:pPr algn="just">
              <a:lnSpc>
                <a:spcPct val="115000"/>
              </a:lnSpc>
              <a:spcAft>
                <a:spcPts val="1000"/>
              </a:spcAft>
            </a:pPr>
            <a:r>
              <a:rPr lang="en-US" sz="1500" b="1" dirty="0">
                <a:effectLst/>
                <a:latin typeface="Times New Roman" panose="02020603050405020304" pitchFamily="18" charset="0"/>
                <a:ea typeface="Times New Roman" panose="02020603050405020304" pitchFamily="18" charset="0"/>
                <a:cs typeface="Times New Roman" panose="02020603050405020304" pitchFamily="18" charset="0"/>
              </a:rPr>
              <a:t>[6]. RISC-V Foundation, </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“Design and Implementation of Arbitrary Point FFT Based on RISC-V SoC,” </a:t>
            </a:r>
            <a:r>
              <a:rPr lang="en-US" sz="1500" i="1" dirty="0">
                <a:effectLst/>
                <a:latin typeface="Times New Roman" panose="02020603050405020304" pitchFamily="18" charset="0"/>
                <a:ea typeface="Times New Roman" panose="02020603050405020304" pitchFamily="18" charset="0"/>
                <a:cs typeface="Times New Roman" panose="02020603050405020304" pitchFamily="18" charset="0"/>
              </a:rPr>
              <a:t>Proceedings of the RISC-V International Conference</a:t>
            </a:r>
            <a:r>
              <a:rPr lang="en-US" sz="1500" dirty="0">
                <a:effectLst/>
                <a:latin typeface="Times New Roman" panose="02020603050405020304" pitchFamily="18" charset="0"/>
                <a:ea typeface="Times New Roman" panose="02020603050405020304" pitchFamily="18" charset="0"/>
                <a:cs typeface="Times New Roman" panose="02020603050405020304" pitchFamily="18" charset="0"/>
              </a:rPr>
              <a:t>, 2021.</a:t>
            </a: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20000"/>
              </a:lnSpc>
            </a:pPr>
            <a:endParaRPr lang="en-IN" sz="15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485FB6E4-E9F2-4D5A-8BF2-1EC214F6F048}"/>
              </a:ext>
            </a:extLst>
          </p:cNvPr>
          <p:cNvSpPr/>
          <p:nvPr/>
        </p:nvSpPr>
        <p:spPr>
          <a:xfrm>
            <a:off x="1890636" y="149307"/>
            <a:ext cx="1592104" cy="523220"/>
          </a:xfrm>
          <a:prstGeom prst="rect">
            <a:avLst/>
          </a:prstGeom>
          <a:noFill/>
        </p:spPr>
        <p:txBody>
          <a:bodyPr wrap="none" lIns="91440" tIns="45720" rIns="91440" bIns="45720">
            <a:spAutoFit/>
          </a:bodyPr>
          <a:lstStyle/>
          <a:p>
            <a:pPr algn="ctr"/>
            <a:r>
              <a:rPr lang="en-US" sz="2800" b="1" dirty="0">
                <a:ln w="10541" cmpd="sng">
                  <a:solidFill>
                    <a:schemeClr val="accent1">
                      <a:shade val="88000"/>
                      <a:satMod val="110000"/>
                    </a:schemeClr>
                  </a:solidFill>
                  <a:prstDash val="solid"/>
                </a:ln>
                <a:solidFill>
                  <a:srgbClr val="0070C0"/>
                </a:solidFill>
                <a:latin typeface="Monotype Corsiva" panose="03010101010201010101" pitchFamily="66" charset="0"/>
                <a:cs typeface="Times New Roman" pitchFamily="18" charset="0"/>
              </a:rPr>
              <a:t>References </a:t>
            </a:r>
          </a:p>
        </p:txBody>
      </p:sp>
      <p:sp>
        <p:nvSpPr>
          <p:cNvPr id="5" name="Slide Number Placeholder 4">
            <a:extLst>
              <a:ext uri="{FF2B5EF4-FFF2-40B4-BE49-F238E27FC236}">
                <a16:creationId xmlns:a16="http://schemas.microsoft.com/office/drawing/2014/main" id="{BA9FBD3F-4335-D8AB-ED0B-40DBFDCF3852}"/>
              </a:ext>
            </a:extLst>
          </p:cNvPr>
          <p:cNvSpPr>
            <a:spLocks noGrp="1"/>
          </p:cNvSpPr>
          <p:nvPr>
            <p:ph type="sldNum" sz="quarter" idx="12"/>
          </p:nvPr>
        </p:nvSpPr>
        <p:spPr>
          <a:xfrm>
            <a:off x="10951856" y="5867131"/>
            <a:ext cx="551167" cy="365125"/>
          </a:xfrm>
        </p:spPr>
        <p:txBody>
          <a:bodyPr/>
          <a:lstStyle/>
          <a:p>
            <a:r>
              <a:rPr lang="en-US" sz="1500" dirty="0">
                <a:latin typeface="Times New Roman" panose="02020603050405020304" pitchFamily="18" charset="0"/>
                <a:cs typeface="Times New Roman" panose="02020603050405020304" pitchFamily="18" charset="0"/>
              </a:rPr>
              <a:t>11</a:t>
            </a:r>
          </a:p>
        </p:txBody>
      </p:sp>
      <p:sp>
        <p:nvSpPr>
          <p:cNvPr id="6" name="Footer Placeholder 4">
            <a:extLst>
              <a:ext uri="{FF2B5EF4-FFF2-40B4-BE49-F238E27FC236}">
                <a16:creationId xmlns:a16="http://schemas.microsoft.com/office/drawing/2014/main" id="{83D8DF23-AE17-ED1B-5CB1-7A27E5DD9097}"/>
              </a:ext>
            </a:extLst>
          </p:cNvPr>
          <p:cNvSpPr>
            <a:spLocks noGrp="1"/>
          </p:cNvSpPr>
          <p:nvPr>
            <p:ph type="ftr" sz="quarter" idx="11"/>
          </p:nvPr>
        </p:nvSpPr>
        <p:spPr>
          <a:xfrm>
            <a:off x="5217655" y="6338615"/>
            <a:ext cx="2895600" cy="365125"/>
          </a:xfrm>
        </p:spPr>
        <p:txBody>
          <a:bodyPr/>
          <a:lstStyle/>
          <a:p>
            <a:r>
              <a:rPr lang="en-US" dirty="0"/>
              <a:t>Dept. of E&amp;CE, PESITM, Shivamogga.</a:t>
            </a:r>
          </a:p>
        </p:txBody>
      </p:sp>
      <p:sp>
        <p:nvSpPr>
          <p:cNvPr id="7" name="Date Placeholder 6"/>
          <p:cNvSpPr>
            <a:spLocks noGrp="1"/>
          </p:cNvSpPr>
          <p:nvPr>
            <p:ph type="dt" sz="half" idx="10"/>
          </p:nvPr>
        </p:nvSpPr>
        <p:spPr/>
        <p:txBody>
          <a:bodyPr/>
          <a:lstStyle/>
          <a:p>
            <a:r>
              <a:rPr lang="en-IN" dirty="0"/>
              <a:t>19-09-2024</a:t>
            </a:r>
          </a:p>
        </p:txBody>
      </p:sp>
    </p:spTree>
    <p:extLst>
      <p:ext uri="{BB962C8B-B14F-4D97-AF65-F5344CB8AC3E}">
        <p14:creationId xmlns:p14="http://schemas.microsoft.com/office/powerpoint/2010/main" val="3912767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8EAC8B-EB9E-FF0C-679A-19CB84ECF84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b="9091"/>
          <a:stretch/>
        </p:blipFill>
        <p:spPr>
          <a:xfrm>
            <a:off x="2173224" y="1954306"/>
            <a:ext cx="7845552" cy="3200400"/>
          </a:xfrm>
          <a:prstGeom prst="rect">
            <a:avLst/>
          </a:prstGeom>
        </p:spPr>
      </p:pic>
      <p:sp>
        <p:nvSpPr>
          <p:cNvPr id="3" name="Date Placeholder 2"/>
          <p:cNvSpPr>
            <a:spLocks noGrp="1"/>
          </p:cNvSpPr>
          <p:nvPr>
            <p:ph type="dt" sz="half" idx="10"/>
          </p:nvPr>
        </p:nvSpPr>
        <p:spPr>
          <a:xfrm>
            <a:off x="9708592" y="6268285"/>
            <a:ext cx="1143000" cy="365125"/>
          </a:xfrm>
        </p:spPr>
        <p:txBody>
          <a:bodyPr/>
          <a:lstStyle/>
          <a:p>
            <a:r>
              <a:rPr lang="en-IN" dirty="0"/>
              <a:t>19-092024</a:t>
            </a:r>
          </a:p>
        </p:txBody>
      </p:sp>
      <p:sp>
        <p:nvSpPr>
          <p:cNvPr id="5" name="Slide Number Placeholder 4"/>
          <p:cNvSpPr>
            <a:spLocks noGrp="1"/>
          </p:cNvSpPr>
          <p:nvPr>
            <p:ph type="sldNum" sz="quarter" idx="12"/>
          </p:nvPr>
        </p:nvSpPr>
        <p:spPr/>
        <p:txBody>
          <a:bodyPr/>
          <a:lstStyle/>
          <a:p>
            <a:fld id="{568B2C7D-C21B-40D5-96D4-A6CB22B7CF2D}" type="slidenum">
              <a:rPr lang="en-IN" smtClean="0"/>
              <a:pPr/>
              <a:t>21</a:t>
            </a:fld>
            <a:endParaRPr lang="en-IN" dirty="0"/>
          </a:p>
        </p:txBody>
      </p:sp>
      <p:sp>
        <p:nvSpPr>
          <p:cNvPr id="6" name="Footer Placeholder 5"/>
          <p:cNvSpPr>
            <a:spLocks noGrp="1"/>
          </p:cNvSpPr>
          <p:nvPr>
            <p:ph type="ftr" sz="quarter" idx="11"/>
          </p:nvPr>
        </p:nvSpPr>
        <p:spPr>
          <a:xfrm>
            <a:off x="2427900" y="6304380"/>
            <a:ext cx="7084177" cy="365125"/>
          </a:xfrm>
        </p:spPr>
        <p:txBody>
          <a:bodyPr/>
          <a:lstStyle/>
          <a:p>
            <a:r>
              <a:rPr lang="en-IN" dirty="0"/>
              <a:t>Dept. of E&amp;CE, PESITM, Shivamogga.</a:t>
            </a:r>
          </a:p>
        </p:txBody>
      </p:sp>
    </p:spTree>
    <p:extLst>
      <p:ext uri="{BB962C8B-B14F-4D97-AF65-F5344CB8AC3E}">
        <p14:creationId xmlns:p14="http://schemas.microsoft.com/office/powerpoint/2010/main" val="117243992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2718</TotalTime>
  <Words>1467</Words>
  <Application>Microsoft Office PowerPoint</Application>
  <PresentationFormat>Widescreen</PresentationFormat>
  <Paragraphs>239</Paragraphs>
  <Slides>21</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21</vt:i4>
      </vt:variant>
    </vt:vector>
  </HeadingPairs>
  <TitlesOfParts>
    <vt:vector size="30" baseType="lpstr">
      <vt:lpstr>Arial</vt:lpstr>
      <vt:lpstr>Baskerville Old Face</vt:lpstr>
      <vt:lpstr>Calibri</vt:lpstr>
      <vt:lpstr>Corbel</vt:lpstr>
      <vt:lpstr>Monotype Corsiva</vt:lpstr>
      <vt:lpstr>Times New Roman</vt:lpstr>
      <vt:lpstr>Verdana</vt:lpstr>
      <vt:lpstr>Wingdings</vt:lpstr>
      <vt:lpstr>Parallax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8-point FFT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u</dc:creator>
  <cp:lastModifiedBy>Hemanth Hemu</cp:lastModifiedBy>
  <cp:revision>97</cp:revision>
  <dcterms:created xsi:type="dcterms:W3CDTF">2021-11-27T10:43:20Z</dcterms:created>
  <dcterms:modified xsi:type="dcterms:W3CDTF">2025-02-01T15:15:59Z</dcterms:modified>
</cp:coreProperties>
</file>